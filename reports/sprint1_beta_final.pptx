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프리텐다드 Bold" charset="1" panose="02000803000000020004"/>
      <p:regular r:id="rId31"/>
    </p:embeddedFont>
    <p:embeddedFont>
      <p:font typeface="프리텐다드" charset="1" panose="02000503000000020004"/>
      <p:regular r:id="rId32"/>
    </p:embeddedFont>
    <p:embeddedFont>
      <p:font typeface="프리텐다드 Thin" charset="1" panose="02000203000000020004"/>
      <p:regular r:id="rId33"/>
    </p:embeddedFont>
    <p:embeddedFont>
      <p:font typeface="Pretendard Bold" charset="1" panose="02000803000000020004"/>
      <p:regular r:id="rId34"/>
    </p:embeddedFont>
    <p:embeddedFont>
      <p:font typeface="Pretendard" charset="1" panose="020005030000000200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VAHUM6a8n10.mp4" Type="http://schemas.openxmlformats.org/officeDocument/2006/relationships/video"/><Relationship Id="rId4" Target="../media/VAHUM6a8n10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VAHUM6a8n10.mp4" Type="http://schemas.openxmlformats.org/officeDocument/2006/relationships/video"/><Relationship Id="rId4" Target="../media/VAHUM6a8n10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VAHUM25naF8.mp4" Type="http://schemas.openxmlformats.org/officeDocument/2006/relationships/video"/><Relationship Id="rId4" Target="../media/VAHUM25naF8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VAHUM25naF8.mp4" Type="http://schemas.openxmlformats.org/officeDocument/2006/relationships/video"/><Relationship Id="rId4" Target="../media/VAHUM25naF8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VAHUM50yqUM.mp4" Type="http://schemas.openxmlformats.org/officeDocument/2006/relationships/video"/><Relationship Id="rId4" Target="../media/VAHUM50yqUM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VAHUM-IFowg.mp4" Type="http://schemas.openxmlformats.org/officeDocument/2006/relationships/video"/><Relationship Id="rId4" Target="../media/VAHUM-IFowg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6505575" cy="1494854"/>
            <a:chOff x="0" y="0"/>
            <a:chExt cx="8674100" cy="1993138"/>
          </a:xfrm>
        </p:grpSpPr>
        <p:sp>
          <p:nvSpPr>
            <p:cNvPr name="Freeform 3" id="3" descr="텍스트, 폰트, 그래픽, 스크린샷이(가) 표시된 사진  AI가 생성한 콘텐츠는 부정확할 수 있습니다."/>
            <p:cNvSpPr/>
            <p:nvPr/>
          </p:nvSpPr>
          <p:spPr>
            <a:xfrm flipH="false" flipV="false" rot="0">
              <a:off x="0" y="0"/>
              <a:ext cx="8674100" cy="1993138"/>
            </a:xfrm>
            <a:custGeom>
              <a:avLst/>
              <a:gdLst/>
              <a:ahLst/>
              <a:cxnLst/>
              <a:rect r="r" b="b" t="t" l="l"/>
              <a:pathLst>
                <a:path h="1993138" w="8674100">
                  <a:moveTo>
                    <a:pt x="0" y="0"/>
                  </a:moveTo>
                  <a:lnTo>
                    <a:pt x="8674100" y="0"/>
                  </a:lnTo>
                  <a:lnTo>
                    <a:pt x="8674100" y="1993138"/>
                  </a:lnTo>
                  <a:lnTo>
                    <a:pt x="0" y="1993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72519" y="4701683"/>
            <a:ext cx="2514600" cy="2514600"/>
            <a:chOff x="0" y="0"/>
            <a:chExt cx="3352800" cy="3352800"/>
          </a:xfrm>
        </p:grpSpPr>
        <p:sp>
          <p:nvSpPr>
            <p:cNvPr name="Freeform 5" id="5" descr="상징, 그래픽, 로고, 원이(가) 표시된 사진  AI가 생성한 콘텐츠는 부정확할 수 있습니다."/>
            <p:cNvSpPr/>
            <p:nvPr/>
          </p:nvSpPr>
          <p:spPr>
            <a:xfrm flipH="false" flipV="false" rot="0">
              <a:off x="0" y="0"/>
              <a:ext cx="3352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667583" y="1028700"/>
            <a:ext cx="4591717" cy="2379374"/>
            <a:chOff x="0" y="0"/>
            <a:chExt cx="6122289" cy="31724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22289" cy="3172460"/>
            </a:xfrm>
            <a:custGeom>
              <a:avLst/>
              <a:gdLst/>
              <a:ahLst/>
              <a:cxnLst/>
              <a:rect r="r" b="b" t="t" l="l"/>
              <a:pathLst>
                <a:path h="3172460" w="6122289">
                  <a:moveTo>
                    <a:pt x="0" y="0"/>
                  </a:moveTo>
                  <a:lnTo>
                    <a:pt x="6122289" y="0"/>
                  </a:lnTo>
                  <a:lnTo>
                    <a:pt x="6122289" y="3172460"/>
                  </a:lnTo>
                  <a:lnTo>
                    <a:pt x="0" y="31724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531" t="0" r="-16531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67583" y="842753"/>
            <a:ext cx="4591717" cy="2565311"/>
            <a:chOff x="0" y="0"/>
            <a:chExt cx="6122289" cy="34204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22293" cy="3420416"/>
            </a:xfrm>
            <a:custGeom>
              <a:avLst/>
              <a:gdLst/>
              <a:ahLst/>
              <a:cxnLst/>
              <a:rect r="r" b="b" t="t" l="l"/>
              <a:pathLst>
                <a:path h="3420416" w="6122293">
                  <a:moveTo>
                    <a:pt x="0" y="0"/>
                  </a:moveTo>
                  <a:lnTo>
                    <a:pt x="6122293" y="0"/>
                  </a:lnTo>
                  <a:lnTo>
                    <a:pt x="6122293" y="3420416"/>
                  </a:lnTo>
                  <a:lnTo>
                    <a:pt x="0" y="34204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680" t="0" r="-2168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6122289" cy="3525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8"/>
                </a:lnSpc>
              </a:pPr>
              <a:r>
                <a:rPr lang="en-US" b="true" sz="4200" spc="-105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TEAM Beta. 26.09.05. </a:t>
              </a:r>
            </a:p>
            <a:p>
              <a:pPr algn="l">
                <a:lnSpc>
                  <a:spcPts val="6048"/>
                </a:lnSpc>
              </a:pPr>
              <a:r>
                <a:rPr lang="en-US" b="true" sz="4200" spc="-105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Sprint1. 최종발표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4228128"/>
            <a:ext cx="10948959" cy="3461728"/>
            <a:chOff x="0" y="0"/>
            <a:chExt cx="14598612" cy="46156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98650" cy="4615688"/>
            </a:xfrm>
            <a:custGeom>
              <a:avLst/>
              <a:gdLst/>
              <a:ahLst/>
              <a:cxnLst/>
              <a:rect r="r" b="b" t="t" l="l"/>
              <a:pathLst>
                <a:path h="4615688" w="14598650">
                  <a:moveTo>
                    <a:pt x="0" y="0"/>
                  </a:moveTo>
                  <a:lnTo>
                    <a:pt x="14598650" y="0"/>
                  </a:lnTo>
                  <a:lnTo>
                    <a:pt x="14598650" y="4615688"/>
                  </a:lnTo>
                  <a:lnTo>
                    <a:pt x="0" y="46156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85" r="0" b="-1158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3849672"/>
            <a:ext cx="10948959" cy="3840162"/>
            <a:chOff x="0" y="0"/>
            <a:chExt cx="14598612" cy="51202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598613" cy="5120210"/>
            </a:xfrm>
            <a:custGeom>
              <a:avLst/>
              <a:gdLst/>
              <a:ahLst/>
              <a:cxnLst/>
              <a:rect r="r" b="b" t="t" l="l"/>
              <a:pathLst>
                <a:path h="5120210" w="14598613">
                  <a:moveTo>
                    <a:pt x="0" y="0"/>
                  </a:moveTo>
                  <a:lnTo>
                    <a:pt x="14598613" y="0"/>
                  </a:lnTo>
                  <a:lnTo>
                    <a:pt x="14598613" y="5120210"/>
                  </a:lnTo>
                  <a:lnTo>
                    <a:pt x="0" y="51202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5" r="0" b="-55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33350"/>
              <a:ext cx="14598612" cy="5253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19"/>
                </a:lnSpc>
              </a:pPr>
              <a:r>
                <a:rPr lang="en-US" sz="5499" spc="-137" b="true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KOSPI 200 구성종목의 </a:t>
              </a:r>
            </a:p>
            <a:p>
              <a:pPr algn="l">
                <a:lnSpc>
                  <a:spcPts val="7919"/>
                </a:lnSpc>
              </a:pPr>
              <a:r>
                <a:rPr lang="en-US" b="true" sz="5499" spc="-137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주성분 제거 단계에 따른 </a:t>
              </a:r>
            </a:p>
            <a:p>
              <a:pPr algn="l">
                <a:lnSpc>
                  <a:spcPts val="7919"/>
                </a:lnSpc>
              </a:pPr>
              <a:r>
                <a:rPr lang="en-US" b="true" sz="5499" spc="-137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기간별 단기반전 예측력 분석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17199" y="8113890"/>
            <a:ext cx="6142101" cy="1669380"/>
            <a:chOff x="0" y="0"/>
            <a:chExt cx="8189468" cy="222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89468" cy="2225802"/>
            </a:xfrm>
            <a:custGeom>
              <a:avLst/>
              <a:gdLst/>
              <a:ahLst/>
              <a:cxnLst/>
              <a:rect r="r" b="b" t="t" l="l"/>
              <a:pathLst>
                <a:path h="2225802" w="8189468">
                  <a:moveTo>
                    <a:pt x="0" y="0"/>
                  </a:moveTo>
                  <a:lnTo>
                    <a:pt x="8189468" y="0"/>
                  </a:lnTo>
                  <a:lnTo>
                    <a:pt x="8189468" y="2225802"/>
                  </a:lnTo>
                  <a:lnTo>
                    <a:pt x="0" y="2225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40" r="0" b="-2164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117199" y="7960528"/>
            <a:ext cx="6142101" cy="1822742"/>
            <a:chOff x="0" y="0"/>
            <a:chExt cx="8189468" cy="24303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89473" cy="2430319"/>
            </a:xfrm>
            <a:custGeom>
              <a:avLst/>
              <a:gdLst/>
              <a:ahLst/>
              <a:cxnLst/>
              <a:rect r="r" b="b" t="t" l="l"/>
              <a:pathLst>
                <a:path h="2430319" w="8189473">
                  <a:moveTo>
                    <a:pt x="0" y="0"/>
                  </a:moveTo>
                  <a:lnTo>
                    <a:pt x="8189473" y="0"/>
                  </a:lnTo>
                  <a:lnTo>
                    <a:pt x="8189473" y="2430319"/>
                  </a:lnTo>
                  <a:lnTo>
                    <a:pt x="0" y="24303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658" r="0" b="-1565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8189468" cy="2535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8"/>
                </a:lnSpc>
              </a:pPr>
              <a:r>
                <a:rPr lang="en-US" b="true" sz="4200" spc="-105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김종엽, 오준영, 장민준, 황성혁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9326" y="4032409"/>
            <a:ext cx="4028989" cy="120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8" b="true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목차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31468" y="5463388"/>
            <a:ext cx="3966848" cy="50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8"/>
              </a:lnSpc>
            </a:pPr>
            <a:r>
              <a:rPr lang="en-US" sz="2598">
                <a:solidFill>
                  <a:srgbClr val="FFFF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Contents</a:t>
            </a:r>
          </a:p>
        </p:txBody>
      </p:sp>
      <p:sp>
        <p:nvSpPr>
          <p:cNvPr name="AutoShape 4" id="4"/>
          <p:cNvSpPr/>
          <p:nvPr/>
        </p:nvSpPr>
        <p:spPr>
          <a:xfrm rot="5382240">
            <a:off x="2385174" y="5129212"/>
            <a:ext cx="7376827" cy="0"/>
          </a:xfrm>
          <a:prstGeom prst="line">
            <a:avLst/>
          </a:prstGeom>
          <a:ln cap="rnd" w="28575">
            <a:solidFill>
              <a:srgbClr val="4D4D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057949" y="2295820"/>
            <a:ext cx="10201351" cy="564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0147" indent="-320049" lvl="2">
              <a:lnSpc>
                <a:spcPts val="7560"/>
              </a:lnSpc>
              <a:buAutoNum type="arabicPeriod" startAt="1"/>
            </a:pPr>
            <a:r>
              <a:rPr lang="en-US" b="true" sz="4200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단기반전이란?</a:t>
            </a:r>
          </a:p>
          <a:p>
            <a:pPr algn="l" marL="960147" indent="-320049" lvl="2">
              <a:lnSpc>
                <a:spcPts val="7560"/>
              </a:lnSpc>
              <a:buAutoNum type="arabicPeriod" startAt="1"/>
            </a:pPr>
            <a:r>
              <a:rPr lang="en-US" b="true" sz="4200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사용 DATA</a:t>
            </a:r>
          </a:p>
          <a:p>
            <a:pPr algn="l" marL="960147" indent="-320049" lvl="2">
              <a:lnSpc>
                <a:spcPts val="7560"/>
              </a:lnSpc>
              <a:buAutoNum type="arabicPeriod" startAt="1"/>
            </a:pPr>
            <a:r>
              <a:rPr lang="en-US" b="true" sz="4200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단기반전은 존재하는가?</a:t>
            </a:r>
          </a:p>
          <a:p>
            <a:pPr algn="l" marL="960147" indent="-320049" lvl="2">
              <a:lnSpc>
                <a:spcPts val="7560"/>
              </a:lnSpc>
              <a:buAutoNum type="arabicPeriod" startAt="1"/>
            </a:pPr>
            <a:r>
              <a:rPr lang="en-US" b="true" sz="4200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단기반전을 고려한 최적 포트폴리오 구성</a:t>
            </a:r>
          </a:p>
          <a:p>
            <a:pPr algn="l" marL="960147" indent="-320049" lvl="2">
              <a:lnSpc>
                <a:spcPts val="7560"/>
              </a:lnSpc>
              <a:buAutoNum type="arabicPeriod" startAt="1"/>
            </a:pPr>
            <a:r>
              <a:rPr lang="en-US" b="true" sz="4200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결론</a:t>
            </a:r>
          </a:p>
          <a:p>
            <a:pPr algn="l" marL="960147" indent="-320049" lvl="2">
              <a:lnSpc>
                <a:spcPts val="756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00"/>
            <a:ext cx="879527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단기반전이란?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50773" y="3355829"/>
            <a:ext cx="1018645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주식 시장 등에서 최근 단기간 동안 올랐던 자산은 가격이 떨어지고, 내렸던 자산은 가격이 오르는 방향으로 흐름이 바뀌는 현상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50425" y="7214778"/>
            <a:ext cx="11187141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선행연구 : 단기반전, 단기 모멘텀 반전 전략으로 수익률을 얻을 수 있는가?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결론 : 가능하다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궁금증 : 그렇다면, 최적 보유 기간은 얼마인가?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3684" y="814549"/>
            <a:ext cx="15287625" cy="59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4"/>
              </a:lnSpc>
            </a:pPr>
            <a:r>
              <a:rPr lang="en-US" sz="405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사용 DATA</a:t>
            </a:r>
          </a:p>
        </p:txBody>
      </p:sp>
      <p:sp>
        <p:nvSpPr>
          <p:cNvPr name="AutoShape 3" id="3"/>
          <p:cNvSpPr/>
          <p:nvPr/>
        </p:nvSpPr>
        <p:spPr>
          <a:xfrm rot="4980">
            <a:off x="806044" y="1838954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17972" y="2537165"/>
            <a:ext cx="4714875" cy="68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3"/>
              </a:lnSpc>
            </a:pPr>
            <a:r>
              <a:rPr lang="en-US" sz="4161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2008–2026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7972" y="3489665"/>
            <a:ext cx="4714875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686">
                <a:solidFill>
                  <a:srgbClr val="B9B9B9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연구기간</a:t>
            </a:r>
          </a:p>
        </p:txBody>
      </p:sp>
      <p:sp>
        <p:nvSpPr>
          <p:cNvPr name="AutoShape 6" id="6"/>
          <p:cNvSpPr/>
          <p:nvPr/>
        </p:nvSpPr>
        <p:spPr>
          <a:xfrm rot="5337480">
            <a:off x="5206498" y="3232490"/>
            <a:ext cx="1309897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404372" y="2537165"/>
            <a:ext cx="4714875" cy="68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3"/>
              </a:lnSpc>
            </a:pPr>
            <a:r>
              <a:rPr lang="en-US" sz="4161" b="true">
                <a:solidFill>
                  <a:srgbClr val="A9C5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407개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4372" y="3489665"/>
            <a:ext cx="4714875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686">
                <a:solidFill>
                  <a:srgbClr val="B9B9B9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전체 기간 편입 이력 종목</a:t>
            </a:r>
          </a:p>
        </p:txBody>
      </p:sp>
      <p:sp>
        <p:nvSpPr>
          <p:cNvPr name="AutoShape 9" id="9"/>
          <p:cNvSpPr/>
          <p:nvPr/>
        </p:nvSpPr>
        <p:spPr>
          <a:xfrm rot="5337480">
            <a:off x="10692898" y="3232490"/>
            <a:ext cx="1309897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890772" y="2537165"/>
            <a:ext cx="4714875" cy="68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3"/>
              </a:lnSpc>
            </a:pPr>
            <a:r>
              <a:rPr lang="en-US" sz="4161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코스피 200 편입 종목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0772" y="3489665"/>
            <a:ext cx="4714875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686">
                <a:solidFill>
                  <a:srgbClr val="B9B9B9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매 거래일 분석 유니버스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05466" y="4410618"/>
            <a:ext cx="10026253" cy="3454003"/>
          </a:xfrm>
          <a:custGeom>
            <a:avLst/>
            <a:gdLst/>
            <a:ahLst/>
            <a:cxnLst/>
            <a:rect r="r" b="b" t="t" l="l"/>
            <a:pathLst>
              <a:path h="3454003" w="10026253">
                <a:moveTo>
                  <a:pt x="0" y="0"/>
                </a:moveTo>
                <a:lnTo>
                  <a:pt x="10026253" y="0"/>
                </a:lnTo>
                <a:lnTo>
                  <a:pt x="10026253" y="3454003"/>
                </a:lnTo>
                <a:lnTo>
                  <a:pt x="0" y="34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60872" y="4727915"/>
            <a:ext cx="4714875" cy="3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025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구성종목 마스크</a:t>
            </a:r>
          </a:p>
        </p:txBody>
      </p:sp>
      <p:sp>
        <p:nvSpPr>
          <p:cNvPr name="AutoShape 14" id="14"/>
          <p:cNvSpPr/>
          <p:nvPr/>
        </p:nvSpPr>
        <p:spPr>
          <a:xfrm rot="19980">
            <a:off x="1665608" y="6156665"/>
            <a:ext cx="8191633" cy="0"/>
          </a:xfrm>
          <a:prstGeom prst="line">
            <a:avLst/>
          </a:prstGeom>
          <a:ln cap="rnd" w="19050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548413" y="6025105"/>
            <a:ext cx="282178" cy="282178"/>
          </a:xfrm>
          <a:custGeom>
            <a:avLst/>
            <a:gdLst/>
            <a:ahLst/>
            <a:cxnLst/>
            <a:rect r="r" b="b" t="t" l="l"/>
            <a:pathLst>
              <a:path h="282178" w="282178">
                <a:moveTo>
                  <a:pt x="0" y="0"/>
                </a:moveTo>
                <a:lnTo>
                  <a:pt x="282178" y="0"/>
                </a:lnTo>
                <a:lnTo>
                  <a:pt x="282178" y="282179"/>
                </a:lnTo>
                <a:lnTo>
                  <a:pt x="0" y="282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17997" y="5461340"/>
            <a:ext cx="1143000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686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2008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3684" y="6499565"/>
            <a:ext cx="1571625" cy="273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"/>
              </a:lnSpc>
            </a:pPr>
            <a:r>
              <a:rPr lang="en-US" sz="1575">
                <a:solidFill>
                  <a:srgbClr val="B9B9B9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A·B·C…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577488" y="6025105"/>
            <a:ext cx="282178" cy="282178"/>
          </a:xfrm>
          <a:custGeom>
            <a:avLst/>
            <a:gdLst/>
            <a:ahLst/>
            <a:cxnLst/>
            <a:rect r="r" b="b" t="t" l="l"/>
            <a:pathLst>
              <a:path h="282178" w="282178">
                <a:moveTo>
                  <a:pt x="0" y="0"/>
                </a:moveTo>
                <a:lnTo>
                  <a:pt x="282178" y="0"/>
                </a:lnTo>
                <a:lnTo>
                  <a:pt x="282178" y="282179"/>
                </a:lnTo>
                <a:lnTo>
                  <a:pt x="0" y="282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147072" y="5461340"/>
            <a:ext cx="1143000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686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2015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32759" y="6499565"/>
            <a:ext cx="1571625" cy="273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"/>
              </a:lnSpc>
            </a:pPr>
            <a:r>
              <a:rPr lang="en-US" sz="1575">
                <a:solidFill>
                  <a:srgbClr val="B9B9B9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B·D·E…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692288" y="6025105"/>
            <a:ext cx="282178" cy="282178"/>
          </a:xfrm>
          <a:custGeom>
            <a:avLst/>
            <a:gdLst/>
            <a:ahLst/>
            <a:cxnLst/>
            <a:rect r="r" b="b" t="t" l="l"/>
            <a:pathLst>
              <a:path h="282178" w="282178">
                <a:moveTo>
                  <a:pt x="0" y="0"/>
                </a:moveTo>
                <a:lnTo>
                  <a:pt x="282178" y="0"/>
                </a:lnTo>
                <a:lnTo>
                  <a:pt x="282178" y="282179"/>
                </a:lnTo>
                <a:lnTo>
                  <a:pt x="0" y="282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61872" y="5461340"/>
            <a:ext cx="1143000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686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47559" y="6499565"/>
            <a:ext cx="1571625" cy="273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"/>
              </a:lnSpc>
            </a:pPr>
            <a:r>
              <a:rPr lang="en-US" sz="1575">
                <a:solidFill>
                  <a:srgbClr val="B9B9B9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D·F·G…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872" y="7175840"/>
            <a:ext cx="7143750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686">
                <a:solidFill>
                  <a:srgbClr val="B9B9B9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편입·편출을 날짜별 1/0 행렬로 반영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278191" y="4410618"/>
            <a:ext cx="6111478" cy="3454003"/>
          </a:xfrm>
          <a:custGeom>
            <a:avLst/>
            <a:gdLst/>
            <a:ahLst/>
            <a:cxnLst/>
            <a:rect r="r" b="b" t="t" l="l"/>
            <a:pathLst>
              <a:path h="3454003" w="6111478">
                <a:moveTo>
                  <a:pt x="0" y="0"/>
                </a:moveTo>
                <a:lnTo>
                  <a:pt x="6111478" y="0"/>
                </a:lnTo>
                <a:lnTo>
                  <a:pt x="6111478" y="3454003"/>
                </a:lnTo>
                <a:lnTo>
                  <a:pt x="0" y="34540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690747" y="4775540"/>
            <a:ext cx="5000625" cy="33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2136" b="true">
                <a:solidFill>
                  <a:srgbClr val="A9C5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왜 KOSPI200 지수만 쓰지 않나?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90747" y="5547065"/>
            <a:ext cx="828675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686" b="true">
                <a:solidFill>
                  <a:srgbClr val="B9B9B9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19447" y="5499440"/>
            <a:ext cx="4000500" cy="32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9"/>
              </a:lnSpc>
            </a:pPr>
            <a:r>
              <a:rPr lang="en-US" sz="1911">
                <a:solidFill>
                  <a:srgbClr val="F5F5F5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시장 전체의 시계열 반전 확인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90747" y="6232865"/>
            <a:ext cx="828675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686" b="true">
                <a:solidFill>
                  <a:srgbClr val="A9C5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종목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19447" y="6185240"/>
            <a:ext cx="4000500" cy="32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9"/>
              </a:lnSpc>
            </a:pPr>
            <a:r>
              <a:rPr lang="en-US" sz="1911">
                <a:solidFill>
                  <a:srgbClr val="F5F5F5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상대적 패자의 단기반전 집중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90747" y="7048938"/>
            <a:ext cx="5029200" cy="2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686" b="true">
                <a:solidFill>
                  <a:srgbClr val="B9B9B9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지수 -10%, 개별 종목 -20%면 -10%와 가깝게 반영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7972" y="8318840"/>
            <a:ext cx="1500187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B9B9B9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결측 처리 원칙: 합병·상장폐지 구간은 임의 보간하지 않고 거래가능성 기준으로 제외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037" y="727958"/>
            <a:ext cx="6464732" cy="73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48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단기반전은 존재하는가?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56228" y="2239728"/>
            <a:ext cx="891255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2A2AA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(투자성과를 보기 전에 신호 자체의 예측력이 통계적으로 존재하는지 먼저 검정)</a:t>
            </a:r>
          </a:p>
        </p:txBody>
      </p:sp>
      <p:sp>
        <p:nvSpPr>
          <p:cNvPr name="AutoShape 4" id="4"/>
          <p:cNvSpPr/>
          <p:nvPr/>
        </p:nvSpPr>
        <p:spPr>
          <a:xfrm rot="5400">
            <a:off x="763372" y="1860061"/>
            <a:ext cx="16485251" cy="0"/>
          </a:xfrm>
          <a:prstGeom prst="line">
            <a:avLst/>
          </a:prstGeom>
          <a:ln cap="rnd" w="9525">
            <a:solidFill>
              <a:srgbClr val="3232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55672" y="2239728"/>
            <a:ext cx="1219195" cy="3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A2A2A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검정 흐름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45169" y="3376374"/>
            <a:ext cx="457200" cy="693563"/>
            <a:chOff x="0" y="0"/>
            <a:chExt cx="609600" cy="924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600" cy="924814"/>
            </a:xfrm>
            <a:custGeom>
              <a:avLst/>
              <a:gdLst/>
              <a:ahLst/>
              <a:cxnLst/>
              <a:rect r="r" b="b" t="t" l="l"/>
              <a:pathLst>
                <a:path h="924814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924814"/>
                  </a:lnTo>
                  <a:lnTo>
                    <a:pt x="0" y="9248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4768" t="0" r="-144770" b="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845169" y="3376374"/>
            <a:ext cx="457200" cy="693563"/>
            <a:chOff x="0" y="0"/>
            <a:chExt cx="609600" cy="924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924752"/>
            </a:xfrm>
            <a:custGeom>
              <a:avLst/>
              <a:gdLst/>
              <a:ahLst/>
              <a:cxnLst/>
              <a:rect r="r" b="b" t="t" l="l"/>
              <a:pathLst>
                <a:path h="924752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924752"/>
                  </a:lnTo>
                  <a:lnTo>
                    <a:pt x="0" y="92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633" t="0" r="-14463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609600" cy="92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5B8D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93469" y="3376374"/>
            <a:ext cx="457200" cy="693563"/>
            <a:chOff x="0" y="0"/>
            <a:chExt cx="609600" cy="924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600" cy="924814"/>
            </a:xfrm>
            <a:custGeom>
              <a:avLst/>
              <a:gdLst/>
              <a:ahLst/>
              <a:cxnLst/>
              <a:rect r="r" b="b" t="t" l="l"/>
              <a:pathLst>
                <a:path h="924814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924814"/>
                  </a:lnTo>
                  <a:lnTo>
                    <a:pt x="0" y="9248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4768" t="0" r="-144770" b="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293469" y="3376374"/>
            <a:ext cx="457200" cy="693563"/>
            <a:chOff x="0" y="0"/>
            <a:chExt cx="609600" cy="924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" cy="924752"/>
            </a:xfrm>
            <a:custGeom>
              <a:avLst/>
              <a:gdLst/>
              <a:ahLst/>
              <a:cxnLst/>
              <a:rect r="r" b="b" t="t" l="l"/>
              <a:pathLst>
                <a:path h="924752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924752"/>
                  </a:lnTo>
                  <a:lnTo>
                    <a:pt x="0" y="92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4633" t="0" r="-14463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09600" cy="92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5B8D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40118" y="2662314"/>
            <a:ext cx="4831747" cy="2266378"/>
          </a:xfrm>
          <a:custGeom>
            <a:avLst/>
            <a:gdLst/>
            <a:ahLst/>
            <a:cxnLst/>
            <a:rect r="r" b="b" t="t" l="l"/>
            <a:pathLst>
              <a:path h="2266378" w="4831747">
                <a:moveTo>
                  <a:pt x="0" y="0"/>
                </a:moveTo>
                <a:lnTo>
                  <a:pt x="4831746" y="0"/>
                </a:lnTo>
                <a:lnTo>
                  <a:pt x="4831746" y="2266378"/>
                </a:lnTo>
                <a:lnTo>
                  <a:pt x="0" y="2266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11269" y="2938224"/>
            <a:ext cx="4572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5B8D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4669" y="2912821"/>
            <a:ext cx="2234954" cy="37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신호 생성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1269" y="3484321"/>
            <a:ext cx="4150374" cy="3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Signal = −과거 N일 수익률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1269" y="4030428"/>
            <a:ext cx="377050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2A2AA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수익률이 낮을수록 반전신호를 크게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1269" y="4420953"/>
            <a:ext cx="408939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77777D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Signal_reversal = - 과거 수익률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388418" y="2662314"/>
            <a:ext cx="4831747" cy="2266378"/>
          </a:xfrm>
          <a:custGeom>
            <a:avLst/>
            <a:gdLst/>
            <a:ahLst/>
            <a:cxnLst/>
            <a:rect r="r" b="b" t="t" l="l"/>
            <a:pathLst>
              <a:path h="2266378" w="4831747">
                <a:moveTo>
                  <a:pt x="0" y="0"/>
                </a:moveTo>
                <a:lnTo>
                  <a:pt x="4831746" y="0"/>
                </a:lnTo>
                <a:lnTo>
                  <a:pt x="4831746" y="2266378"/>
                </a:lnTo>
                <a:lnTo>
                  <a:pt x="0" y="2266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759569" y="2938224"/>
            <a:ext cx="4572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5B8D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92969" y="2912821"/>
            <a:ext cx="2942934" cy="37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미래수익률 비교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59569" y="3484321"/>
            <a:ext cx="4209214" cy="3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FutureReturn = 이후 K일 수익률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59569" y="4030428"/>
            <a:ext cx="372109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2A2AA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신호와 이후 K일 수익률을 비교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59569" y="4420953"/>
            <a:ext cx="408939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77777D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K = 5·10·20·60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830050" y="2655646"/>
            <a:ext cx="4844986" cy="2279618"/>
          </a:xfrm>
          <a:custGeom>
            <a:avLst/>
            <a:gdLst/>
            <a:ahLst/>
            <a:cxnLst/>
            <a:rect r="r" b="b" t="t" l="l"/>
            <a:pathLst>
              <a:path h="2279618" w="4844986">
                <a:moveTo>
                  <a:pt x="0" y="0"/>
                </a:moveTo>
                <a:lnTo>
                  <a:pt x="4844986" y="0"/>
                </a:lnTo>
                <a:lnTo>
                  <a:pt x="4844986" y="2279618"/>
                </a:lnTo>
                <a:lnTo>
                  <a:pt x="0" y="22796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207869" y="2938224"/>
            <a:ext cx="4572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A9C7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41269" y="2912821"/>
            <a:ext cx="2547658" cy="37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일별 Rank IC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07869" y="3484321"/>
            <a:ext cx="4058012" cy="3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 b="true">
                <a:solidFill>
                  <a:srgbClr val="A9C7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ICₜ = ρₛ(신호 순위, 미래 순위)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07869" y="4030428"/>
            <a:ext cx="322884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A2A2AA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매일 종목별 순위를 비교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07869" y="4420953"/>
            <a:ext cx="43312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77777D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Spearman 상관계수로 측정, 높다면 예측력 좋음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40118" y="5519814"/>
            <a:ext cx="7981379" cy="2672715"/>
          </a:xfrm>
          <a:custGeom>
            <a:avLst/>
            <a:gdLst/>
            <a:ahLst/>
            <a:cxnLst/>
            <a:rect r="r" b="b" t="t" l="l"/>
            <a:pathLst>
              <a:path h="2672715" w="7981379">
                <a:moveTo>
                  <a:pt x="0" y="0"/>
                </a:moveTo>
                <a:lnTo>
                  <a:pt x="7981378" y="0"/>
                </a:lnTo>
                <a:lnTo>
                  <a:pt x="7981378" y="2672715"/>
                </a:lnTo>
                <a:lnTo>
                  <a:pt x="0" y="26727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50897" y="5513146"/>
            <a:ext cx="8197787" cy="2686050"/>
          </a:xfrm>
          <a:custGeom>
            <a:avLst/>
            <a:gdLst/>
            <a:ahLst/>
            <a:cxnLst/>
            <a:rect r="r" b="b" t="t" l="l"/>
            <a:pathLst>
              <a:path h="2686050" w="8197787">
                <a:moveTo>
                  <a:pt x="0" y="0"/>
                </a:moveTo>
                <a:lnTo>
                  <a:pt x="8197786" y="0"/>
                </a:lnTo>
                <a:lnTo>
                  <a:pt x="819778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11269" y="5840178"/>
            <a:ext cx="1431796" cy="28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5B8D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1차 검정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38475" y="5770321"/>
            <a:ext cx="334994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단기반전 신호의 존재</a:t>
            </a:r>
          </a:p>
        </p:txBody>
      </p:sp>
      <p:sp>
        <p:nvSpPr>
          <p:cNvPr name="AutoShape 38" id="38"/>
          <p:cNvSpPr/>
          <p:nvPr/>
        </p:nvSpPr>
        <p:spPr>
          <a:xfrm rot="10500">
            <a:off x="1300143" y="6368815"/>
            <a:ext cx="7261260" cy="0"/>
          </a:xfrm>
          <a:prstGeom prst="line">
            <a:avLst/>
          </a:prstGeom>
          <a:ln cap="rnd" w="9525">
            <a:solidFill>
              <a:srgbClr val="3232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311269" y="6557724"/>
            <a:ext cx="6936810" cy="37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평균 IC(W, PC, N, K) = meanₜ[ICₜ(W, PC, N, K)]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1269" y="7091124"/>
            <a:ext cx="550786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H₀: E[ICₜ] = 0    |    H₁: E[ICₜ] &gt; 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1269" y="7624524"/>
            <a:ext cx="5905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>
                <a:solidFill>
                  <a:srgbClr val="A2A2AA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평균 IC와 HAC t값으로 우연 여부를 판단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239250" y="5513146"/>
            <a:ext cx="8197786" cy="2686050"/>
          </a:xfrm>
          <a:custGeom>
            <a:avLst/>
            <a:gdLst/>
            <a:ahLst/>
            <a:cxnLst/>
            <a:rect r="r" b="b" t="t" l="l"/>
            <a:pathLst>
              <a:path h="2686050" w="8197786">
                <a:moveTo>
                  <a:pt x="0" y="0"/>
                </a:moveTo>
                <a:lnTo>
                  <a:pt x="8197786" y="0"/>
                </a:lnTo>
                <a:lnTo>
                  <a:pt x="8197786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9617069" y="5840178"/>
            <a:ext cx="1603096" cy="28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A9C7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2차 검정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44275" y="5770321"/>
            <a:ext cx="46045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PCA 제거가 예측력을 높이는가</a:t>
            </a:r>
          </a:p>
        </p:txBody>
      </p:sp>
      <p:sp>
        <p:nvSpPr>
          <p:cNvPr name="AutoShape 45" id="45"/>
          <p:cNvSpPr/>
          <p:nvPr/>
        </p:nvSpPr>
        <p:spPr>
          <a:xfrm rot="10260">
            <a:off x="9605943" y="6368815"/>
            <a:ext cx="7464457" cy="0"/>
          </a:xfrm>
          <a:prstGeom prst="line">
            <a:avLst/>
          </a:prstGeom>
          <a:ln cap="rnd" w="9525">
            <a:solidFill>
              <a:srgbClr val="284C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9617069" y="6557724"/>
            <a:ext cx="5432822" cy="37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A9C7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ΔICₜ(PC) = ICₜ(PC) − ICₜ(Raw)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17069" y="7091124"/>
            <a:ext cx="51912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H₀: E[ΔICₜ] = 0    |    H₁: E[ΔICₜ] &gt; 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17069" y="7624524"/>
            <a:ext cx="611593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>
                <a:solidFill>
                  <a:srgbClr val="A2A2AA"/>
                </a:solidFill>
                <a:latin typeface="프리텐다드 Thin"/>
                <a:ea typeface="프리텐다드 Thin"/>
                <a:cs typeface="프리텐다드 Thin"/>
                <a:sym typeface="프리텐다드 Thin"/>
              </a:rPr>
              <a:t>동일 날짜의 IC 차이를 HAC 검정하여 PCA 제거 효과를 판단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937889" y="8502091"/>
            <a:ext cx="16494824" cy="1064323"/>
          </a:xfrm>
          <a:custGeom>
            <a:avLst/>
            <a:gdLst/>
            <a:ahLst/>
            <a:cxnLst/>
            <a:rect r="r" b="b" t="t" l="l"/>
            <a:pathLst>
              <a:path h="1064323" w="16494824">
                <a:moveTo>
                  <a:pt x="0" y="0"/>
                </a:moveTo>
                <a:lnTo>
                  <a:pt x="16494823" y="0"/>
                </a:lnTo>
                <a:lnTo>
                  <a:pt x="16494823" y="1064324"/>
                </a:lnTo>
                <a:lnTo>
                  <a:pt x="0" y="1064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362075" y="8818321"/>
            <a:ext cx="199555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A9C7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검정 통과 후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3622672" y="8786574"/>
            <a:ext cx="13182600" cy="482594"/>
            <a:chOff x="0" y="0"/>
            <a:chExt cx="17576800" cy="64345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576800" cy="643509"/>
            </a:xfrm>
            <a:custGeom>
              <a:avLst/>
              <a:gdLst/>
              <a:ahLst/>
              <a:cxnLst/>
              <a:rect r="r" b="b" t="t" l="l"/>
              <a:pathLst>
                <a:path h="643509" w="17576800">
                  <a:moveTo>
                    <a:pt x="0" y="0"/>
                  </a:moveTo>
                  <a:lnTo>
                    <a:pt x="17576800" y="0"/>
                  </a:lnTo>
                  <a:lnTo>
                    <a:pt x="17576800" y="643509"/>
                  </a:lnTo>
                  <a:lnTo>
                    <a:pt x="0" y="6435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1847" r="0" b="-481841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622672" y="8779431"/>
            <a:ext cx="13182600" cy="489744"/>
            <a:chOff x="0" y="0"/>
            <a:chExt cx="17576800" cy="6529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576800" cy="652987"/>
            </a:xfrm>
            <a:custGeom>
              <a:avLst/>
              <a:gdLst/>
              <a:ahLst/>
              <a:cxnLst/>
              <a:rect r="r" b="b" t="t" l="l"/>
              <a:pathLst>
                <a:path h="652987" w="17576800">
                  <a:moveTo>
                    <a:pt x="0" y="0"/>
                  </a:moveTo>
                  <a:lnTo>
                    <a:pt x="17576800" y="0"/>
                  </a:lnTo>
                  <a:lnTo>
                    <a:pt x="17576800" y="652987"/>
                  </a:lnTo>
                  <a:lnTo>
                    <a:pt x="0" y="6529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488" r="0" b="-47448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7576800" cy="662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Rank IC로 통계적 유의성 확인  →  Long–Short·Sharpe·MDD·Turnover로 경제적 유의성 확인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0223"/>
            <a:ext cx="2853138" cy="73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998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변수 설명</a:t>
            </a:r>
          </a:p>
        </p:txBody>
      </p:sp>
      <p:sp>
        <p:nvSpPr>
          <p:cNvPr name="AutoShape 3" id="3"/>
          <p:cNvSpPr/>
          <p:nvPr/>
        </p:nvSpPr>
        <p:spPr>
          <a:xfrm rot="4980">
            <a:off x="781031" y="1739817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64992" y="2977089"/>
            <a:ext cx="1366298" cy="90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6000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x축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2249" y="3334324"/>
            <a:ext cx="13439299" cy="8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99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미래 수익률 평가 기간, </a:t>
            </a:r>
          </a:p>
          <a:p>
            <a:pPr algn="l">
              <a:lnSpc>
                <a:spcPts val="3448"/>
              </a:lnSpc>
            </a:pPr>
            <a:r>
              <a:rPr lang="en-US" sz="2499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각각 5, 10, 20, 60 거래일을 뜻하며, 며칠까지의 움직임을 ‘반전신호’로 볼지를 결정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3" y="4401065"/>
            <a:ext cx="16249619" cy="9643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55467" y="5058301"/>
            <a:ext cx="1787306" cy="90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6000" b="true">
                <a:solidFill>
                  <a:srgbClr val="FF7D7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y축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12249" y="4815461"/>
            <a:ext cx="52367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W*PC*N + raw*N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2249" y="5406011"/>
            <a:ext cx="13439299" cy="127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99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PCA 추정 기간에 해당하는 W, 제거하는 주성분의 범위 PC, 반전신호에 사용하는 과거수익률 기간 N</a:t>
            </a:r>
          </a:p>
          <a:p>
            <a:pPr algn="l">
              <a:lnSpc>
                <a:spcPts val="3446"/>
              </a:lnSpc>
            </a:pPr>
            <a:r>
              <a:rPr lang="en-US" sz="2499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즉, W 60·120·252 × 제거 PC 1, 2, 3 × N 5·10·30·60 + raw N 5·10·30·60 = 36 + 4 = 40개</a:t>
            </a:r>
          </a:p>
          <a:p>
            <a:pPr algn="l">
              <a:lnSpc>
                <a:spcPts val="3448"/>
              </a:lnSpc>
            </a:pPr>
          </a:p>
        </p:txBody>
      </p:sp>
      <p:sp>
        <p:nvSpPr>
          <p:cNvPr name="AutoShape 10" id="10"/>
          <p:cNvSpPr/>
          <p:nvPr/>
        </p:nvSpPr>
        <p:spPr>
          <a:xfrm>
            <a:off x="1028703" y="6472752"/>
            <a:ext cx="16249619" cy="9643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89976" y="7003830"/>
            <a:ext cx="1341314" cy="90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sz="6000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z축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12249" y="6887149"/>
            <a:ext cx="3861826" cy="47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자료 반영 년도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2249" y="7477699"/>
            <a:ext cx="13439299" cy="8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99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관계가 연도별로 어떻게 달라졌는지 파악하기 위해</a:t>
            </a:r>
          </a:p>
          <a:p>
            <a:pPr algn="l">
              <a:lnSpc>
                <a:spcPts val="3448"/>
              </a:lnSpc>
            </a:pPr>
            <a:r>
              <a:rPr lang="en-US" sz="2499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Z축은 년도로 구성, PCA과정에서 과거 분석을 하기 위해 2008년은 제외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2249" y="2448508"/>
            <a:ext cx="1745456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0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미래 기간 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317995" y="2844403"/>
          <a:ext cx="13639800" cy="5778500"/>
        </p:xfrm>
        <a:graphic>
          <a:graphicData uri="http://schemas.openxmlformats.org/drawingml/2006/table">
            <a:tbl>
              <a:tblPr/>
              <a:tblGrid>
                <a:gridCol w="1526209"/>
                <a:gridCol w="3860596"/>
                <a:gridCol w="8252995"/>
              </a:tblGrid>
              <a:tr h="1155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83"/>
                        </a:lnSpc>
                        <a:defRPr/>
                      </a:pPr>
                      <a:r>
                        <a:rPr lang="en-US" sz="2524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Step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83"/>
                        </a:lnSpc>
                        <a:defRPr/>
                      </a:pPr>
                      <a:r>
                        <a:rPr lang="en-US" sz="2524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지표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83"/>
                        </a:lnSpc>
                        <a:defRPr/>
                      </a:pPr>
                      <a:r>
                        <a:rPr lang="en-US" sz="2524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검정 질문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1155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    </a:t>
                      </a: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랭크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단기반전 신호 자체에 예측력이 있는가?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1155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    </a:t>
                      </a: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랭크 분위수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신호를 5분위로 단순화 해도 결과가 유지되는가?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1155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    </a:t>
                      </a: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델타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PCA가 Raw보다 랭크 IC를 개선하는가?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1155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    </a:t>
                      </a: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델타 분위수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PCA가 Raw보다 분위수 IC를 개선하는가?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860698"/>
            <a:ext cx="6187583" cy="6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199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진행 Intro</a:t>
            </a:r>
          </a:p>
        </p:txBody>
      </p:sp>
      <p:sp>
        <p:nvSpPr>
          <p:cNvPr name="AutoShape 4" id="4"/>
          <p:cNvSpPr/>
          <p:nvPr/>
        </p:nvSpPr>
        <p:spPr>
          <a:xfrm rot="4980">
            <a:off x="781031" y="1739817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395233" y="2202323"/>
            <a:ext cx="13497544" cy="759236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85803" y="950462"/>
            <a:ext cx="9493861" cy="6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1. RANK IC를 통한 반전 신호 검증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21725" t="0" r="13300" b="0"/>
          <a:stretch>
            <a:fillRect/>
          </a:stretch>
        </p:blipFill>
        <p:spPr>
          <a:xfrm flipH="false" flipV="false" rot="0">
            <a:off x="605409" y="2202323"/>
            <a:ext cx="8538591" cy="739222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85803" y="950462"/>
            <a:ext cx="8124041" cy="6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1. RANK IC 검증 결과 해석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506652" y="2202326"/>
          <a:ext cx="8242300" cy="2895600"/>
        </p:xfrm>
        <a:graphic>
          <a:graphicData uri="http://schemas.openxmlformats.org/drawingml/2006/table">
            <a:tbl>
              <a:tblPr/>
              <a:tblGrid>
                <a:gridCol w="1520089"/>
                <a:gridCol w="2525991"/>
                <a:gridCol w="2103751"/>
                <a:gridCol w="2092470"/>
              </a:tblGrid>
              <a:tr h="9406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구분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평균 랭크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양의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BH 유의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16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Raw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0.01436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16/16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11/16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16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PCA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0.01097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139/144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85/144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16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전체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0.01131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155/160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96/160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506652" y="5671655"/>
          <a:ext cx="8255000" cy="3543300"/>
        </p:xfrm>
        <a:graphic>
          <a:graphicData uri="http://schemas.openxmlformats.org/drawingml/2006/table">
            <a:tbl>
              <a:tblPr/>
              <a:tblGrid>
                <a:gridCol w="1973425"/>
                <a:gridCol w="3413480"/>
                <a:gridCol w="2868094"/>
              </a:tblGrid>
              <a:tr h="9396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미래기간 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Raw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PCA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0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0.01887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0.01680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0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0.01460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0.01205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0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0.01479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0.01019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0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0.00917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0.00483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290553" y="2202323"/>
            <a:ext cx="13706894" cy="7710126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85803" y="950462"/>
            <a:ext cx="7832630" cy="6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2. RANK IC - 5분위수 검증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85803" y="950462"/>
            <a:ext cx="8223538" cy="6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2. RANK IC - 5분위수 검증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506652" y="2202326"/>
          <a:ext cx="8242300" cy="2895600"/>
        </p:xfrm>
        <a:graphic>
          <a:graphicData uri="http://schemas.openxmlformats.org/drawingml/2006/table">
            <a:tbl>
              <a:tblPr/>
              <a:tblGrid>
                <a:gridCol w="1454170"/>
                <a:gridCol w="2591910"/>
                <a:gridCol w="2103751"/>
                <a:gridCol w="2092470"/>
              </a:tblGrid>
              <a:tr h="9406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구분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평균 랭크 분위수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양의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BH 유의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16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Raw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0.01343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16/16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11/16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16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PCA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0.01013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137/144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82/144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16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전체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0.01046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153/160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93/160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506652" y="5671655"/>
          <a:ext cx="8255000" cy="3543300"/>
        </p:xfrm>
        <a:graphic>
          <a:graphicData uri="http://schemas.openxmlformats.org/drawingml/2006/table">
            <a:tbl>
              <a:tblPr/>
              <a:tblGrid>
                <a:gridCol w="1973425"/>
                <a:gridCol w="3413480"/>
                <a:gridCol w="2868094"/>
              </a:tblGrid>
              <a:tr h="9396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미래기간 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Raw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PCA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0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0.01771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0.01586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0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0.01336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0.01101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0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0.01373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0.00927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0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0.00891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0.00438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13873" t="2294" r="13552" b="992"/>
          <a:stretch>
            <a:fillRect/>
          </a:stretch>
        </p:blipFill>
        <p:spPr>
          <a:xfrm flipH="false" flipV="false" rot="0">
            <a:off x="291551" y="2353751"/>
            <a:ext cx="8852449" cy="6635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322586" y="2202323"/>
            <a:ext cx="13642819" cy="767409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85803" y="950462"/>
            <a:ext cx="7143534" cy="62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3. Delta IC 기반 검증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85803" y="950462"/>
            <a:ext cx="8965914" cy="62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3. Delta IC 기반 검증 결과 해석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85801" y="2183276"/>
          <a:ext cx="8343900" cy="3429000"/>
        </p:xfrm>
        <a:graphic>
          <a:graphicData uri="http://schemas.openxmlformats.org/drawingml/2006/table">
            <a:tbl>
              <a:tblPr/>
              <a:tblGrid>
                <a:gridCol w="4128799"/>
                <a:gridCol w="4215101"/>
              </a:tblGrid>
              <a:tr h="8326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항목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결과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49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PCA 조합 수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49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평균 델타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-0.00348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49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양의 Delta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22/144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49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BH 유의한 양의 개선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0/144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319373" y="2183276"/>
          <a:ext cx="8343900" cy="3429000"/>
        </p:xfrm>
        <a:graphic>
          <a:graphicData uri="http://schemas.openxmlformats.org/drawingml/2006/table">
            <a:tbl>
              <a:tblPr/>
              <a:tblGrid>
                <a:gridCol w="4216952"/>
                <a:gridCol w="4126948"/>
              </a:tblGrid>
              <a:tr h="8326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미래기간 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결과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49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49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-0.00253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49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-0.00472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490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-0.00468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85801" y="6281899"/>
          <a:ext cx="8343900" cy="2808115"/>
        </p:xfrm>
        <a:graphic>
          <a:graphicData uri="http://schemas.openxmlformats.org/drawingml/2006/table">
            <a:tbl>
              <a:tblPr/>
              <a:tblGrid>
                <a:gridCol w="4128799"/>
                <a:gridCol w="4215101"/>
              </a:tblGrid>
              <a:tr h="833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PCA 추정 기간 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평균 델타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83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-0.00617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3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-0.00422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3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252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-0.00006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319373" y="6281899"/>
          <a:ext cx="8343900" cy="3465197"/>
        </p:xfrm>
        <a:graphic>
          <a:graphicData uri="http://schemas.openxmlformats.org/drawingml/2006/table">
            <a:tbl>
              <a:tblPr/>
              <a:tblGrid>
                <a:gridCol w="4128799"/>
                <a:gridCol w="4215101"/>
              </a:tblGrid>
              <a:tr h="8326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PCA 추정 기간 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평균 델타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+0.02560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-0.02499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2026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+0.01801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242090" y="2202323"/>
            <a:ext cx="13803820" cy="776464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85803" y="950462"/>
            <a:ext cx="7742699" cy="6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4. Delta IC - 5분위수 검증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85803" y="950462"/>
            <a:ext cx="10545252" cy="62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4. Delta IC - 5분위수 검증 결과 해석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85801" y="2183276"/>
          <a:ext cx="8343900" cy="3447098"/>
        </p:xfrm>
        <a:graphic>
          <a:graphicData uri="http://schemas.openxmlformats.org/drawingml/2006/table">
            <a:tbl>
              <a:tblPr/>
              <a:tblGrid>
                <a:gridCol w="4128799"/>
                <a:gridCol w="4215101"/>
              </a:tblGrid>
              <a:tr h="8326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항목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결과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490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PCA 조합 수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평균 델타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-0.00342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양의 Delta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23/144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490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BH 유의한 양의 개선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0/144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319373" y="2183276"/>
          <a:ext cx="8343900" cy="3465197"/>
        </p:xfrm>
        <a:graphic>
          <a:graphicData uri="http://schemas.openxmlformats.org/drawingml/2006/table">
            <a:tbl>
              <a:tblPr/>
              <a:tblGrid>
                <a:gridCol w="4216952"/>
                <a:gridCol w="4126948"/>
              </a:tblGrid>
              <a:tr h="8326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미래기간 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결과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-0.00182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-0.00237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-0.00460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-0.00491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85801" y="6281899"/>
          <a:ext cx="8343900" cy="2808115"/>
        </p:xfrm>
        <a:graphic>
          <a:graphicData uri="http://schemas.openxmlformats.org/drawingml/2006/table">
            <a:tbl>
              <a:tblPr/>
              <a:tblGrid>
                <a:gridCol w="4128799"/>
                <a:gridCol w="4215101"/>
              </a:tblGrid>
              <a:tr h="833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PCA 추정 기간 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평균 델타 분위수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83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-0.00597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3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-0.00417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3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252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-0.00013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319373" y="6281899"/>
          <a:ext cx="8343900" cy="3465197"/>
        </p:xfrm>
        <a:graphic>
          <a:graphicData uri="http://schemas.openxmlformats.org/drawingml/2006/table">
            <a:tbl>
              <a:tblPr/>
              <a:tblGrid>
                <a:gridCol w="4128799"/>
                <a:gridCol w="4215101"/>
              </a:tblGrid>
              <a:tr h="8326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연도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A9C7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평균 델타 분위수 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+0.02332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-0.02312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2026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300">
                          <a:solidFill>
                            <a:srgbClr val="F5F5F5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+0.01831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6581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980">
            <a:off x="781031" y="1871291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85803" y="2202323"/>
            <a:ext cx="8930983" cy="7420061"/>
            <a:chOff x="0" y="0"/>
            <a:chExt cx="11907977" cy="98934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08028" cy="9893427"/>
            </a:xfrm>
            <a:custGeom>
              <a:avLst/>
              <a:gdLst/>
              <a:ahLst/>
              <a:cxnLst/>
              <a:rect r="r" b="b" t="t" l="l"/>
              <a:pathLst>
                <a:path h="9893427" w="11908028">
                  <a:moveTo>
                    <a:pt x="0" y="0"/>
                  </a:moveTo>
                  <a:lnTo>
                    <a:pt x="11908028" y="0"/>
                  </a:lnTo>
                  <a:lnTo>
                    <a:pt x="11908028" y="9893427"/>
                  </a:lnTo>
                  <a:lnTo>
                    <a:pt x="0" y="989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85803" y="950462"/>
            <a:ext cx="8439683" cy="62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2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Final Step. 단기반전은 존재하는가?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81039" y="3959584"/>
            <a:ext cx="6678261" cy="3896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6"/>
              </a:lnSpc>
            </a:pPr>
            <a:r>
              <a:rPr lang="en-US" sz="32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단기반전 신호</a:t>
            </a:r>
          </a:p>
          <a:p>
            <a:pPr algn="ctr">
              <a:lnSpc>
                <a:spcPts val="3836"/>
              </a:lnSpc>
            </a:pPr>
            <a:r>
              <a:rPr lang="en-US" sz="32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</a:t>
            </a:r>
            <a:r>
              <a:rPr lang="en-US" sz="32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존재</a:t>
            </a:r>
          </a:p>
          <a:p>
            <a:pPr algn="ctr">
              <a:lnSpc>
                <a:spcPts val="3836"/>
              </a:lnSpc>
            </a:pPr>
          </a:p>
          <a:p>
            <a:pPr algn="ctr">
              <a:lnSpc>
                <a:spcPts val="3836"/>
              </a:lnSpc>
            </a:pPr>
            <a:r>
              <a:rPr lang="en-US" sz="32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PCA 개선 효과</a:t>
            </a:r>
          </a:p>
          <a:p>
            <a:pPr algn="ctr">
              <a:lnSpc>
                <a:spcPts val="3836"/>
              </a:lnSpc>
            </a:pPr>
            <a:r>
              <a:rPr lang="en-US" sz="32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</a:t>
            </a:r>
            <a:r>
              <a:rPr lang="en-US" sz="32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미확인</a:t>
            </a:r>
          </a:p>
          <a:p>
            <a:pPr algn="ctr">
              <a:lnSpc>
                <a:spcPts val="3836"/>
              </a:lnSpc>
            </a:pPr>
          </a:p>
          <a:p>
            <a:pPr algn="ctr">
              <a:lnSpc>
                <a:spcPts val="3836"/>
              </a:lnSpc>
            </a:pPr>
            <a:r>
              <a:rPr lang="en-US" sz="32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</a:t>
            </a:r>
            <a:r>
              <a:rPr lang="en-US" sz="3200" b="true">
                <a:solidFill>
                  <a:srgbClr val="F4F4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K=5 기준 포트폴리오 성과 검증</a:t>
            </a:r>
          </a:p>
          <a:p>
            <a:pPr algn="ctr">
              <a:lnSpc>
                <a:spcPts val="3838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0698"/>
            <a:ext cx="6555893" cy="6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199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포트폴리오 구성 규칙</a:t>
            </a:r>
          </a:p>
        </p:txBody>
      </p:sp>
      <p:sp>
        <p:nvSpPr>
          <p:cNvPr name="AutoShape 3" id="3"/>
          <p:cNvSpPr/>
          <p:nvPr/>
        </p:nvSpPr>
        <p:spPr>
          <a:xfrm rot="4980">
            <a:off x="781031" y="1739817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45959" y="2386012"/>
            <a:ext cx="1601444" cy="75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000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02742" y="2634482"/>
            <a:ext cx="13638562" cy="104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W 60·120·252 × 제거 PC 1, 2, 3 × N 5·10·30·60 = 36개 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즉 종전에 제시한 히트맵을 매일 비교하여, 가장 높은 점수를 보인 모델을 선택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미래수익률은 K=5일 고정. </a:t>
            </a:r>
            <a:r>
              <a:rPr lang="en-US" sz="2025" b="true">
                <a:solidFill>
                  <a:srgbClr val="A8B2B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선택 점수의 최댓값 ≤ 0이면 신규 진입하지 않음. 즉 모델 점수가 음수일경우 진입 x</a:t>
            </a:r>
          </a:p>
        </p:txBody>
      </p:sp>
      <p:sp>
        <p:nvSpPr>
          <p:cNvPr name="AutoShape 6" id="6"/>
          <p:cNvSpPr/>
          <p:nvPr/>
        </p:nvSpPr>
        <p:spPr>
          <a:xfrm rot="2040">
            <a:off x="1019194" y="4033838"/>
            <a:ext cx="16249621" cy="0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45959" y="4457700"/>
            <a:ext cx="1601444" cy="75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000" b="true">
                <a:solidFill>
                  <a:srgbClr val="FF7D7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2742" y="4448175"/>
            <a:ext cx="8949829" cy="42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과거 IC로 모델(변수 조합) 선택 · 현재 Signal로 종목 선택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2742" y="5057775"/>
            <a:ext cx="13439299" cy="73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t = s+5일 종가: 점수 확정·현재 Signal로 선정 → t+1일 종가: 진입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Q5(잔차 기준 최근 패자) 매수 · Q1(최근 승자) 공매도</a:t>
            </a:r>
          </a:p>
        </p:txBody>
      </p:sp>
      <p:sp>
        <p:nvSpPr>
          <p:cNvPr name="AutoShape 10" id="10"/>
          <p:cNvSpPr/>
          <p:nvPr/>
        </p:nvSpPr>
        <p:spPr>
          <a:xfrm rot="2040">
            <a:off x="1019194" y="6105525"/>
            <a:ext cx="16249621" cy="0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45959" y="6529388"/>
            <a:ext cx="1601444" cy="75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000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2742" y="6519863"/>
            <a:ext cx="7457137" cy="42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5일 보유 · 매일 자산의 20%씩 신규 회차를 편입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2742" y="7129462"/>
            <a:ext cx="13439299" cy="69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5일 후 만기 회차 청산. Long-only는 매수 20%, Long-short는 매수 10%+공매도 10%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최대 5개 회차를 중첩 운용하며, 종목별 순매매 상계 여부는 파일별로 구분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2742" y="1958307"/>
            <a:ext cx="8627960" cy="49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2811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36개 후보 중 확정된 IC 계열 점수가 가장 높은 모델 선택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5959" y="8682038"/>
            <a:ext cx="16814302" cy="75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097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비용: 매수 0.05% · 매도 0.20% (왕복 0.25%, 대차료 제외)</a:t>
            </a:r>
          </a:p>
          <a:p>
            <a:pPr algn="l">
              <a:lnSpc>
                <a:spcPts val="301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0223"/>
            <a:ext cx="7211336" cy="6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199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정보 확인·종목 선정·매매 시점</a:t>
            </a:r>
          </a:p>
        </p:txBody>
      </p:sp>
      <p:sp>
        <p:nvSpPr>
          <p:cNvPr name="AutoShape 3" id="3"/>
          <p:cNvSpPr/>
          <p:nvPr/>
        </p:nvSpPr>
        <p:spPr>
          <a:xfrm rot="1980">
            <a:off x="776268" y="1735055"/>
            <a:ext cx="16492557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810000"/>
            <a:ext cx="639969" cy="46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3036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962525"/>
            <a:ext cx="3476625" cy="108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36개 후보 신호 존재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이후 5일 수익률 미확정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IC는 아직 계산 불가</a:t>
            </a:r>
          </a:p>
        </p:txBody>
      </p:sp>
      <p:sp>
        <p:nvSpPr>
          <p:cNvPr name="AutoShape 6" id="6"/>
          <p:cNvSpPr/>
          <p:nvPr/>
        </p:nvSpPr>
        <p:spPr>
          <a:xfrm rot="2040">
            <a:off x="1019165" y="7836694"/>
            <a:ext cx="16249669" cy="0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620375" y="3810000"/>
            <a:ext cx="749870" cy="46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3036" b="true">
                <a:solidFill>
                  <a:srgbClr val="FF7D7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t+1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76875" y="4391025"/>
            <a:ext cx="3494855" cy="42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종가 이후 · 모델 선택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76875" y="4962525"/>
            <a:ext cx="4762500" cy="73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s일 신호와 s→t 수익률로 IC 계산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양수 점수가 가장 높은 모델 선택</a:t>
            </a:r>
          </a:p>
        </p:txBody>
      </p:sp>
      <p:sp>
        <p:nvSpPr>
          <p:cNvPr name="AutoShape 10" id="10"/>
          <p:cNvSpPr/>
          <p:nvPr/>
        </p:nvSpPr>
        <p:spPr>
          <a:xfrm rot="7440">
            <a:off x="7229437" y="3426619"/>
            <a:ext cx="4400626" cy="0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476875" y="3810000"/>
            <a:ext cx="1614488" cy="46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3036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 = s+5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76875" y="6124575"/>
            <a:ext cx="4161959" cy="42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같은 t일 · 종목 선정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20375" y="4962525"/>
            <a:ext cx="3333750" cy="104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선정 종목 실제 매매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신규 회차 자산 20%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(t+1 = s+6)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00250" y="3419475"/>
            <a:ext cx="5238750" cy="38100"/>
            <a:chOff x="0" y="0"/>
            <a:chExt cx="698500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0" cy="50800"/>
            </a:xfrm>
            <a:custGeom>
              <a:avLst/>
              <a:gdLst/>
              <a:ahLst/>
              <a:cxnLst/>
              <a:rect r="r" b="b" t="t" l="l"/>
              <a:pathLst>
                <a:path h="508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8E6D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20500" y="3419475"/>
            <a:ext cx="4476750" cy="38100"/>
            <a:chOff x="0" y="0"/>
            <a:chExt cx="596900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69000" cy="50800"/>
            </a:xfrm>
            <a:custGeom>
              <a:avLst/>
              <a:gdLst/>
              <a:ahLst/>
              <a:cxnLst/>
              <a:rect r="r" b="b" t="t" l="l"/>
              <a:pathLst>
                <a:path h="508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7D7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038475" y="3381375"/>
            <a:ext cx="19050" cy="114300"/>
            <a:chOff x="0" y="0"/>
            <a:chExt cx="25400" cy="15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152400"/>
            </a:xfrm>
            <a:custGeom>
              <a:avLst/>
              <a:gdLst/>
              <a:ahLst/>
              <a:cxnLst/>
              <a:rect r="r" b="b" t="t" l="l"/>
              <a:pathLst>
                <a:path h="152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8E6D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86225" y="3381375"/>
            <a:ext cx="19050" cy="114300"/>
            <a:chOff x="0" y="0"/>
            <a:chExt cx="25400" cy="152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" cy="152400"/>
            </a:xfrm>
            <a:custGeom>
              <a:avLst/>
              <a:gdLst/>
              <a:ahLst/>
              <a:cxnLst/>
              <a:rect r="r" b="b" t="t" l="l"/>
              <a:pathLst>
                <a:path h="152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8E6D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133975" y="3381375"/>
            <a:ext cx="19050" cy="114300"/>
            <a:chOff x="0" y="0"/>
            <a:chExt cx="25400" cy="152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152400"/>
            </a:xfrm>
            <a:custGeom>
              <a:avLst/>
              <a:gdLst/>
              <a:ahLst/>
              <a:cxnLst/>
              <a:rect r="r" b="b" t="t" l="l"/>
              <a:pathLst>
                <a:path h="152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8E6D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181725" y="3381375"/>
            <a:ext cx="19050" cy="114300"/>
            <a:chOff x="0" y="0"/>
            <a:chExt cx="25400" cy="152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152400"/>
            </a:xfrm>
            <a:custGeom>
              <a:avLst/>
              <a:gdLst/>
              <a:ahLst/>
              <a:cxnLst/>
              <a:rect r="r" b="b" t="t" l="l"/>
              <a:pathLst>
                <a:path h="152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8E6D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506325" y="3381375"/>
            <a:ext cx="19050" cy="114300"/>
            <a:chOff x="0" y="0"/>
            <a:chExt cx="25400" cy="15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400" cy="152400"/>
            </a:xfrm>
            <a:custGeom>
              <a:avLst/>
              <a:gdLst/>
              <a:ahLst/>
              <a:cxnLst/>
              <a:rect r="r" b="b" t="t" l="l"/>
              <a:pathLst>
                <a:path h="152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7D7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401675" y="3381375"/>
            <a:ext cx="19050" cy="114300"/>
            <a:chOff x="0" y="0"/>
            <a:chExt cx="25400" cy="152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152400"/>
            </a:xfrm>
            <a:custGeom>
              <a:avLst/>
              <a:gdLst/>
              <a:ahLst/>
              <a:cxnLst/>
              <a:rect r="r" b="b" t="t" l="l"/>
              <a:pathLst>
                <a:path h="152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7D7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297025" y="3381375"/>
            <a:ext cx="19050" cy="114300"/>
            <a:chOff x="0" y="0"/>
            <a:chExt cx="25400" cy="152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400" cy="152400"/>
            </a:xfrm>
            <a:custGeom>
              <a:avLst/>
              <a:gdLst/>
              <a:ahLst/>
              <a:cxnLst/>
              <a:rect r="r" b="b" t="t" l="l"/>
              <a:pathLst>
                <a:path h="152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7D7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192375" y="3381375"/>
            <a:ext cx="19050" cy="114300"/>
            <a:chOff x="0" y="0"/>
            <a:chExt cx="25400" cy="152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400" cy="152400"/>
            </a:xfrm>
            <a:custGeom>
              <a:avLst/>
              <a:gdLst/>
              <a:ahLst/>
              <a:cxnLst/>
              <a:rect r="r" b="b" t="t" l="l"/>
              <a:pathLst>
                <a:path h="152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7D7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852612" y="3290888"/>
            <a:ext cx="295275" cy="295275"/>
            <a:chOff x="0" y="0"/>
            <a:chExt cx="393700" cy="393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3700" cy="393700"/>
            </a:xfrm>
            <a:custGeom>
              <a:avLst/>
              <a:gdLst/>
              <a:ahLst/>
              <a:cxnLst/>
              <a:rect r="r" b="b" t="t" l="l"/>
              <a:pathLst>
                <a:path h="393700" w="39370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cubicBezTo>
                    <a:pt x="305562" y="0"/>
                    <a:pt x="393700" y="88138"/>
                    <a:pt x="393700" y="196850"/>
                  </a:cubicBezTo>
                  <a:cubicBezTo>
                    <a:pt x="393700" y="305562"/>
                    <a:pt x="305562" y="393700"/>
                    <a:pt x="196850" y="393700"/>
                  </a:cubicBezTo>
                  <a:cubicBezTo>
                    <a:pt x="88138" y="393700"/>
                    <a:pt x="0" y="305562"/>
                    <a:pt x="0" y="196850"/>
                  </a:cubicBezTo>
                  <a:close/>
                </a:path>
              </a:pathLst>
            </a:custGeom>
            <a:solidFill>
              <a:srgbClr val="050505"/>
            </a:solidFill>
            <a:ln w="38100" cap="sq">
              <a:solidFill>
                <a:srgbClr val="58E6D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091362" y="3290888"/>
            <a:ext cx="295275" cy="295275"/>
            <a:chOff x="0" y="0"/>
            <a:chExt cx="393700" cy="393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3700" cy="393700"/>
            </a:xfrm>
            <a:custGeom>
              <a:avLst/>
              <a:gdLst/>
              <a:ahLst/>
              <a:cxnLst/>
              <a:rect r="r" b="b" t="t" l="l"/>
              <a:pathLst>
                <a:path h="393700" w="39370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cubicBezTo>
                    <a:pt x="305562" y="0"/>
                    <a:pt x="393700" y="88138"/>
                    <a:pt x="393700" y="196850"/>
                  </a:cubicBezTo>
                  <a:cubicBezTo>
                    <a:pt x="393700" y="305562"/>
                    <a:pt x="305562" y="393700"/>
                    <a:pt x="196850" y="393700"/>
                  </a:cubicBezTo>
                  <a:cubicBezTo>
                    <a:pt x="88138" y="393700"/>
                    <a:pt x="0" y="305562"/>
                    <a:pt x="0" y="196850"/>
                  </a:cubicBezTo>
                  <a:close/>
                </a:path>
              </a:pathLst>
            </a:custGeom>
            <a:solidFill>
              <a:srgbClr val="050505"/>
            </a:solidFill>
            <a:ln w="38100" cap="sq">
              <a:solidFill>
                <a:srgbClr val="58E6D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472862" y="3290888"/>
            <a:ext cx="295275" cy="295275"/>
            <a:chOff x="0" y="0"/>
            <a:chExt cx="393700" cy="393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3700" cy="393700"/>
            </a:xfrm>
            <a:custGeom>
              <a:avLst/>
              <a:gdLst/>
              <a:ahLst/>
              <a:cxnLst/>
              <a:rect r="r" b="b" t="t" l="l"/>
              <a:pathLst>
                <a:path h="393700" w="39370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cubicBezTo>
                    <a:pt x="305562" y="0"/>
                    <a:pt x="393700" y="88138"/>
                    <a:pt x="393700" y="196850"/>
                  </a:cubicBezTo>
                  <a:cubicBezTo>
                    <a:pt x="393700" y="305562"/>
                    <a:pt x="305562" y="393700"/>
                    <a:pt x="196850" y="393700"/>
                  </a:cubicBezTo>
                  <a:cubicBezTo>
                    <a:pt x="88138" y="393700"/>
                    <a:pt x="0" y="305562"/>
                    <a:pt x="0" y="196850"/>
                  </a:cubicBezTo>
                  <a:close/>
                </a:path>
              </a:pathLst>
            </a:custGeom>
            <a:solidFill>
              <a:srgbClr val="050505"/>
            </a:solidFill>
            <a:ln w="38100" cap="sq">
              <a:solidFill>
                <a:srgbClr val="FF7D7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949612" y="3290888"/>
            <a:ext cx="295275" cy="295275"/>
            <a:chOff x="0" y="0"/>
            <a:chExt cx="393700" cy="393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3700" cy="393700"/>
            </a:xfrm>
            <a:custGeom>
              <a:avLst/>
              <a:gdLst/>
              <a:ahLst/>
              <a:cxnLst/>
              <a:rect r="r" b="b" t="t" l="l"/>
              <a:pathLst>
                <a:path h="393700" w="39370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cubicBezTo>
                    <a:pt x="305562" y="0"/>
                    <a:pt x="393700" y="88138"/>
                    <a:pt x="393700" y="196850"/>
                  </a:cubicBezTo>
                  <a:cubicBezTo>
                    <a:pt x="393700" y="305562"/>
                    <a:pt x="305562" y="393700"/>
                    <a:pt x="196850" y="393700"/>
                  </a:cubicBezTo>
                  <a:cubicBezTo>
                    <a:pt x="88138" y="393700"/>
                    <a:pt x="0" y="305562"/>
                    <a:pt x="0" y="196850"/>
                  </a:cubicBezTo>
                  <a:close/>
                </a:path>
              </a:pathLst>
            </a:custGeom>
            <a:solidFill>
              <a:srgbClr val="050505"/>
            </a:solidFill>
            <a:ln w="38100" cap="sq">
              <a:solidFill>
                <a:srgbClr val="FF7D75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028700" y="2009775"/>
            <a:ext cx="8115300" cy="50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IC 확인을 위한 5일과 실제 보유 5일은 서로 다른 기간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62200" y="2771775"/>
            <a:ext cx="4667250" cy="36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025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IC 평가: 이후 5일 관측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382000" y="2771775"/>
            <a:ext cx="2952750" cy="36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다음 1거래일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96750" y="2771775"/>
            <a:ext cx="4667250" cy="41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025" b="true">
                <a:solidFill>
                  <a:srgbClr val="FF7D7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실제 투자: 5일 보유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4238625"/>
            <a:ext cx="2221853" cy="50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과거 원천일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20375" y="4238625"/>
            <a:ext cx="1905000" cy="50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종가 · 진입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63750" y="3657600"/>
            <a:ext cx="996760" cy="54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036" b="true">
                <a:solidFill>
                  <a:srgbClr val="FF7D7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t+6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763750" y="4238625"/>
            <a:ext cx="2000250" cy="50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종가 · 청산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63750" y="4924425"/>
            <a:ext cx="2495550" cy="73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해당 회차만 청산</a:t>
            </a:r>
          </a:p>
          <a:p>
            <a:pPr algn="l">
              <a:lnSpc>
                <a:spcPts val="296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(t+6 = s+11)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76875" y="6600825"/>
            <a:ext cx="4762500" cy="73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025">
                <a:solidFill>
                  <a:srgbClr val="58E6D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선택 모델의 현재 t일 Signal 사용</a:t>
            </a:r>
          </a:p>
          <a:p>
            <a:pPr algn="l">
              <a:lnSpc>
                <a:spcPts val="2963"/>
              </a:lnSpc>
            </a:pPr>
            <a:r>
              <a:rPr lang="en-US" sz="2025">
                <a:solidFill>
                  <a:srgbClr val="58E6D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Q5 매수 · Q1 공매도 (롱숏)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8096250"/>
            <a:ext cx="16230600" cy="50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811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과거 IC는 ‘모델 선택’에, 현재 Signal은 ‘종목 선정’에 사용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8700" y="8820150"/>
            <a:ext cx="16230600" cy="36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이미 반등한 과거 종목을 그대로 매수하는 전략이 아님.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28700" y="9410700"/>
            <a:ext cx="16230600" cy="36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모든 시점은 거래일 기준 · 도식 간격은 비례하지 않음 · 매일 신규 회차에 반복 적용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0698"/>
            <a:ext cx="5691779" cy="6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199" b="true">
                <a:solidFill>
                  <a:srgbClr val="F5F5F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포트폴리오 운용 결과</a:t>
            </a:r>
          </a:p>
        </p:txBody>
      </p:sp>
      <p:sp>
        <p:nvSpPr>
          <p:cNvPr name="AutoShape 3" id="3"/>
          <p:cNvSpPr/>
          <p:nvPr/>
        </p:nvSpPr>
        <p:spPr>
          <a:xfrm rot="4980">
            <a:off x="781031" y="1739817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004155"/>
            <a:ext cx="9525826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500" b="true">
                <a:solidFill>
                  <a:srgbClr val="F5F5F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STEP 1 · Rank IC  /  STEP 2 · 5Q Rank IC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3124200"/>
          <a:ext cx="16205200" cy="4343400"/>
        </p:xfrm>
        <a:graphic>
          <a:graphicData uri="http://schemas.openxmlformats.org/drawingml/2006/table">
            <a:tbl>
              <a:tblPr/>
              <a:tblGrid>
                <a:gridCol w="3414582"/>
                <a:gridCol w="2131770"/>
                <a:gridCol w="1980850"/>
                <a:gridCol w="1980850"/>
                <a:gridCol w="1754472"/>
                <a:gridCol w="2056310"/>
                <a:gridCol w="2886365"/>
              </a:tblGrid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STEP / 운용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누적수익률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CAGR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연변동성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Sharpe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MDD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일평균 회전율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STEP 1 · Long-short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-83.18%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-9.89%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5.48%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-1.87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-84.64%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37.40%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STEP 1 · Long-only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+16.77%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0.91%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19.97%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0.15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-67.58%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25.51%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STEP 2 · Long-short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-66.57%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-6.20%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5.52%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-1.13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-70.15%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25.14%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STEP 2 · Long-only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+21.09%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1.12%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20.06%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0.16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-66.49%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25.65%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KOSPI200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+472.91%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10.73%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21.71%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0.58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-41.19%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ㅡ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2647950"/>
            <a:ext cx="1089274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2009.01.29–2026.07.30 종가 · 거래비용 차감 후 · 252일 연율화 · Sharpe: 무위험수익률 0%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658100"/>
            <a:ext cx="16230600" cy="108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5Q 방식도 롱숏은 손실. 롱온리 CAGR은 0.91%·1.12%로 시장(10.73%)을 크게 하회.</a:t>
            </a:r>
          </a:p>
          <a:p>
            <a:pPr algn="l">
              <a:lnSpc>
                <a:spcPts val="2916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롱온리 MDD는 약 −67%로 시장(−41.19%)보다 깊어, 낮은 수익과 큰 낙폭을 함께 기록.</a:t>
            </a:r>
          </a:p>
          <a:p>
            <a:pPr algn="l">
              <a:lnSpc>
                <a:spcPts val="2916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※ STEP 1 롱숏은 상계 내역 없음. 나머지는 상계 적용 → 신호만의 성과 차이로 해석 불가.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34500"/>
            <a:ext cx="117594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5Q = 5분위 라벨 간 상관(QIC) · KOSPI200: 배당 제외 · 회전율: 매수·매도 합계/전일 순자산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0698"/>
            <a:ext cx="5854468" cy="6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199" b="true">
                <a:solidFill>
                  <a:srgbClr val="F5F5F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포트폴리오 운용 결과</a:t>
            </a:r>
          </a:p>
        </p:txBody>
      </p:sp>
      <p:sp>
        <p:nvSpPr>
          <p:cNvPr name="AutoShape 3" id="3"/>
          <p:cNvSpPr/>
          <p:nvPr/>
        </p:nvSpPr>
        <p:spPr>
          <a:xfrm rot="4980">
            <a:off x="781031" y="1739817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985105"/>
            <a:ext cx="10555653" cy="51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500" b="true">
                <a:solidFill>
                  <a:srgbClr val="F5F5F5"/>
                </a:solidFill>
                <a:latin typeface="Pretendard Bold"/>
                <a:ea typeface="Pretendard Bold"/>
                <a:cs typeface="Pretendard Bold"/>
                <a:sym typeface="Pretendard Bold"/>
              </a:rPr>
              <a:t>STEP 3 · ΔRank IC  /  STEP 4 · 5Q ΔRank IC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3124200"/>
          <a:ext cx="16205200" cy="4343400"/>
        </p:xfrm>
        <a:graphic>
          <a:graphicData uri="http://schemas.openxmlformats.org/drawingml/2006/table">
            <a:tbl>
              <a:tblPr/>
              <a:tblGrid>
                <a:gridCol w="3414582"/>
                <a:gridCol w="2131770"/>
                <a:gridCol w="1980850"/>
                <a:gridCol w="1980850"/>
                <a:gridCol w="1754472"/>
                <a:gridCol w="2056310"/>
                <a:gridCol w="2886365"/>
              </a:tblGrid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STEP / 운용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누적수익률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CAGR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연변동성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Sharpe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MDD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일평균 회전율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STEP 3 · Long-short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-73.60%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-7.48%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5.58%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-1.37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-75.28%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23.65%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STEP 3 · Long-only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−22.19%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−1.45%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20.75%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0.03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−76.46%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2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24.03%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STEP 4 · Long-short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-71.02%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-6.98%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5.60%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-1.26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-72.55%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24.13%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STEP 4 · Long-only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+1.68%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0.10%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21.01%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0.11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-72.82%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>
                          <a:solidFill>
                            <a:srgbClr val="F5F5F5"/>
                          </a:solidFill>
                          <a:latin typeface="Pretendard"/>
                          <a:ea typeface="Pretendard"/>
                          <a:cs typeface="Pretendard"/>
                          <a:sym typeface="Pretendard"/>
                        </a:rPr>
                        <a:t>24.50%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KOSPI200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+472.91%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10.73%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21.71%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0.58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-41.19%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3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A9C7FF"/>
                          </a:solidFill>
                          <a:latin typeface="Pretendard Bold"/>
                          <a:ea typeface="Pretendard Bold"/>
                          <a:cs typeface="Pretendard Bold"/>
                          <a:sym typeface="Pretendard Bold"/>
                        </a:rPr>
                        <a:t>ㅡ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5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7658100"/>
            <a:ext cx="16230600" cy="108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Δ계열 롱숏도 모두 손실. 5Q ΔIC 롱온리는 누적 +1.68%·CAGR 0.10%로 사실상 정체.</a:t>
            </a:r>
          </a:p>
          <a:p>
            <a:pPr algn="l">
              <a:lnSpc>
                <a:spcPts val="2916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5Q ΔIC 롱온리: MDD −72.82%·Sharpe 0.11 → 시장보다 깊은 낙폭과 낮은 위험조정성과.</a:t>
            </a:r>
          </a:p>
          <a:p>
            <a:pPr algn="l">
              <a:lnSpc>
                <a:spcPts val="2916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※ ΔRank IC 롱온리는 독립 성과 미제공. 롱숏 결과에서 분리하거나 다른 전략으로 대체하지 않음.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47950"/>
            <a:ext cx="16230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2009.01.29–2026.07.30 종가 · 거래비용 차감 후 · 252일 연율화 · Sharpe: 무위험수익률 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34500"/>
            <a:ext cx="145435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A8B2B7"/>
                </a:solidFill>
                <a:latin typeface="Pretendard"/>
                <a:ea typeface="Pretendard"/>
                <a:cs typeface="Pretendard"/>
                <a:sym typeface="Pretendard"/>
              </a:rPr>
              <a:t>5Q = 5분위 라벨 간 상관(QIC) · KOSPI200: 배당 제외 · 회전율: 매수·매도 합계/전일 순자산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980">
            <a:off x="776268" y="1866529"/>
            <a:ext cx="16492557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85803" y="969512"/>
            <a:ext cx="10482887" cy="62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199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시장과의 비교: 롱온리는 KOSPI200을 하회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87075" y="2790682"/>
            <a:ext cx="6372225" cy="6429394"/>
            <a:chOff x="0" y="0"/>
            <a:chExt cx="8496300" cy="85725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963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8496300">
                  <a:moveTo>
                    <a:pt x="0" y="0"/>
                  </a:moveTo>
                  <a:lnTo>
                    <a:pt x="8496300" y="0"/>
                  </a:lnTo>
                  <a:lnTo>
                    <a:pt x="8496300" y="8572500"/>
                  </a:lnTo>
                  <a:lnTo>
                    <a:pt x="0" y="8572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544" t="0" r="-7954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87075" y="2733532"/>
            <a:ext cx="6372225" cy="6486540"/>
            <a:chOff x="0" y="0"/>
            <a:chExt cx="8496300" cy="8648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96300" cy="8648715"/>
            </a:xfrm>
            <a:custGeom>
              <a:avLst/>
              <a:gdLst/>
              <a:ahLst/>
              <a:cxnLst/>
              <a:rect r="r" b="b" t="t" l="l"/>
              <a:pathLst>
                <a:path h="8648715" w="8496300">
                  <a:moveTo>
                    <a:pt x="0" y="0"/>
                  </a:moveTo>
                  <a:lnTo>
                    <a:pt x="8496300" y="0"/>
                  </a:lnTo>
                  <a:lnTo>
                    <a:pt x="8496300" y="8648715"/>
                  </a:lnTo>
                  <a:lnTo>
                    <a:pt x="0" y="86487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605" t="0" r="-80605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8496300" cy="872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동일 기간 KOSPI200</a:t>
              </a: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152.29 → 872.49</a:t>
              </a:r>
            </a:p>
            <a:p>
              <a:pPr algn="ctr">
                <a:lnSpc>
                  <a:spcPts val="3999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누적 +472.91%</a:t>
              </a: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CAGR 10.73% · Sharpe 0.58</a:t>
              </a: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MDD −41.19%</a:t>
              </a:r>
            </a:p>
            <a:p>
              <a:pPr algn="ctr">
                <a:lnSpc>
                  <a:spcPts val="3999"/>
                </a:lnSpc>
              </a:pPr>
            </a:p>
            <a:p>
              <a:pPr algn="ctr">
                <a:lnSpc>
                  <a:spcPts val="3999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QIC Long-only +21.09%</a:t>
              </a: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ΔQIC Long-only +1.68%</a:t>
              </a:r>
            </a:p>
            <a:p>
              <a:pPr algn="ctr">
                <a:lnSpc>
                  <a:spcPts val="3999"/>
                </a:lnSpc>
              </a:pPr>
            </a:p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2426" y="1778860"/>
            <a:ext cx="9608449" cy="7581205"/>
            <a:chOff x="0" y="0"/>
            <a:chExt cx="12811265" cy="101082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1252" cy="10108311"/>
            </a:xfrm>
            <a:custGeom>
              <a:avLst/>
              <a:gdLst/>
              <a:ahLst/>
              <a:cxnLst/>
              <a:rect r="r" b="b" t="t" l="l"/>
              <a:pathLst>
                <a:path h="10108311" w="12811252">
                  <a:moveTo>
                    <a:pt x="0" y="0"/>
                  </a:moveTo>
                  <a:lnTo>
                    <a:pt x="12811252" y="0"/>
                  </a:lnTo>
                  <a:lnTo>
                    <a:pt x="12811252" y="10108311"/>
                  </a:lnTo>
                  <a:lnTo>
                    <a:pt x="0" y="101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" t="0" r="-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496726" y="8629650"/>
            <a:ext cx="619125" cy="34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2021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39175" y="8629650"/>
            <a:ext cx="619125" cy="34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00800" y="9096375"/>
            <a:ext cx="2628900" cy="3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58E6D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— ΔQIC Long-only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33600" y="9096375"/>
            <a:ext cx="2000250" cy="33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F5F5F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— KOSPI200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38600" y="9096375"/>
            <a:ext cx="2286000" cy="29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5B8D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— QIC Long-only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980">
            <a:off x="776268" y="1866529"/>
            <a:ext cx="16492557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85803" y="969512"/>
            <a:ext cx="11726470" cy="62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199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비용 영향: 양(+)의 수익이 순성과로 이어지지 못함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81807" y="2193436"/>
            <a:ext cx="7686427" cy="7410117"/>
          </a:xfrm>
          <a:custGeom>
            <a:avLst/>
            <a:gdLst/>
            <a:ahLst/>
            <a:cxnLst/>
            <a:rect r="r" b="b" t="t" l="l"/>
            <a:pathLst>
              <a:path h="7410117" w="7686427">
                <a:moveTo>
                  <a:pt x="0" y="0"/>
                </a:moveTo>
                <a:lnTo>
                  <a:pt x="7686427" y="0"/>
                </a:lnTo>
                <a:lnTo>
                  <a:pt x="7686427" y="7410117"/>
                </a:lnTo>
                <a:lnTo>
                  <a:pt x="0" y="7410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39375" y="2838450"/>
            <a:ext cx="6372225" cy="6038850"/>
            <a:chOff x="0" y="0"/>
            <a:chExt cx="8496300" cy="8051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96300" cy="8051800"/>
            </a:xfrm>
            <a:custGeom>
              <a:avLst/>
              <a:gdLst/>
              <a:ahLst/>
              <a:cxnLst/>
              <a:rect r="r" b="b" t="t" l="l"/>
              <a:pathLst>
                <a:path h="8051800" w="8496300">
                  <a:moveTo>
                    <a:pt x="0" y="0"/>
                  </a:moveTo>
                  <a:lnTo>
                    <a:pt x="8496300" y="0"/>
                  </a:lnTo>
                  <a:lnTo>
                    <a:pt x="8496300" y="8051800"/>
                  </a:lnTo>
                  <a:lnTo>
                    <a:pt x="0" y="8051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1675" t="0" r="-7167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39375" y="2781300"/>
            <a:ext cx="6372225" cy="6096000"/>
            <a:chOff x="0" y="0"/>
            <a:chExt cx="8496300" cy="812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96300" cy="8128000"/>
            </a:xfrm>
            <a:custGeom>
              <a:avLst/>
              <a:gdLst/>
              <a:ahLst/>
              <a:cxnLst/>
              <a:rect r="r" b="b" t="t" l="l"/>
              <a:pathLst>
                <a:path h="8128000" w="8496300">
                  <a:moveTo>
                    <a:pt x="0" y="0"/>
                  </a:moveTo>
                  <a:lnTo>
                    <a:pt x="8496300" y="0"/>
                  </a:lnTo>
                  <a:lnTo>
                    <a:pt x="8496300" y="8128000"/>
                  </a:lnTo>
                  <a:lnTo>
                    <a:pt x="0" y="812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2741" t="0" r="-7274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496300" cy="8204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매수 5bp · 매도 20bp</a:t>
              </a: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왕복 25bp (대차료 제외)</a:t>
              </a:r>
            </a:p>
            <a:p>
              <a:pPr algn="ctr">
                <a:lnSpc>
                  <a:spcPts val="3999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QIC 롱숏 CAGR</a:t>
              </a: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1.53% → -6.20%</a:t>
              </a:r>
            </a:p>
            <a:p>
              <a:pPr algn="ctr">
                <a:lnSpc>
                  <a:spcPts val="3999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일평균 회전율 약 24~26%</a:t>
              </a: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상계 후에도 빈번한 거래가 지속</a:t>
              </a:r>
            </a:p>
            <a:p>
              <a:pPr algn="ctr">
                <a:lnSpc>
                  <a:spcPts val="3600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낮은 회전율·교체 완충구간 등</a:t>
              </a:r>
            </a:p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F4F4F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거래 감소 설계가 다음 검증 과제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9216" y="2194674"/>
            <a:ext cx="9892408" cy="7855829"/>
            <a:chOff x="0" y="0"/>
            <a:chExt cx="13189877" cy="104744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89838" cy="10474452"/>
            </a:xfrm>
            <a:custGeom>
              <a:avLst/>
              <a:gdLst/>
              <a:ahLst/>
              <a:cxnLst/>
              <a:rect r="r" b="b" t="t" l="l"/>
              <a:pathLst>
                <a:path h="10474452" w="13189838">
                  <a:moveTo>
                    <a:pt x="0" y="0"/>
                  </a:moveTo>
                  <a:lnTo>
                    <a:pt x="13189838" y="0"/>
                  </a:lnTo>
                  <a:lnTo>
                    <a:pt x="13189838" y="10474452"/>
                  </a:lnTo>
                  <a:lnTo>
                    <a:pt x="0" y="10474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" t="0" r="-6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0698"/>
            <a:ext cx="1540444" cy="6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199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결론</a:t>
            </a:r>
          </a:p>
        </p:txBody>
      </p:sp>
      <p:sp>
        <p:nvSpPr>
          <p:cNvPr name="AutoShape 3" id="3"/>
          <p:cNvSpPr/>
          <p:nvPr/>
        </p:nvSpPr>
        <p:spPr>
          <a:xfrm rot="4980">
            <a:off x="781031" y="1739817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10744" y="2450227"/>
            <a:ext cx="1754383" cy="84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7"/>
              </a:lnSpc>
            </a:pPr>
            <a:r>
              <a:rPr lang="en-US" sz="5548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70105" y="3129872"/>
            <a:ext cx="14914368" cy="76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8"/>
              </a:lnSpc>
            </a:pPr>
            <a:r>
              <a:rPr lang="en-US" sz="2247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Rank IC는 160개 중 155개 조합에서 양수였으며, 보정 후 96개가 유의했다.</a:t>
            </a:r>
          </a:p>
          <a:p>
            <a:pPr algn="l">
              <a:lnSpc>
                <a:spcPts val="3099"/>
              </a:lnSpc>
            </a:pPr>
            <a:r>
              <a:rPr lang="en-US" sz="2247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단기반전 예측력은 k = 5에서 가장 강하고, 미래기간이 길어질수록 감소했</a:t>
            </a:r>
          </a:p>
        </p:txBody>
      </p:sp>
      <p:sp>
        <p:nvSpPr>
          <p:cNvPr name="AutoShape 6" id="6"/>
          <p:cNvSpPr/>
          <p:nvPr/>
        </p:nvSpPr>
        <p:spPr>
          <a:xfrm>
            <a:off x="781042" y="4288374"/>
            <a:ext cx="18033143" cy="10701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10744" y="4749299"/>
            <a:ext cx="1671478" cy="84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7"/>
              </a:lnSpc>
            </a:pPr>
            <a:r>
              <a:rPr lang="en-US" sz="5548" b="true">
                <a:solidFill>
                  <a:srgbClr val="FF7D7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70105" y="4758824"/>
            <a:ext cx="7821698" cy="101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29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그러나 PCA는 유효하지 않았다.</a:t>
            </a:r>
          </a:p>
          <a:p>
            <a:pPr algn="l">
              <a:lnSpc>
                <a:spcPts val="399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870105" y="5428944"/>
            <a:ext cx="14914368" cy="76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8"/>
              </a:lnSpc>
            </a:pPr>
            <a:r>
              <a:rPr lang="en-US" sz="2247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델타 검증을 해보았으나, 유의미한 수치는 기록 되지 않았다. 오히려 음수가 나왔다.</a:t>
            </a:r>
          </a:p>
          <a:p>
            <a:pPr algn="l">
              <a:lnSpc>
                <a:spcPts val="3099"/>
              </a:lnSpc>
            </a:pPr>
            <a:r>
              <a:rPr lang="en-US" sz="2247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주성분의 제거는 단기반전에 큰 영향을 주지 못했다.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781042" y="6587445"/>
            <a:ext cx="18033143" cy="10701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10744" y="7048370"/>
            <a:ext cx="1371814" cy="84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7"/>
              </a:lnSpc>
            </a:pPr>
            <a:r>
              <a:rPr lang="en-US" sz="5548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70105" y="7057895"/>
            <a:ext cx="12099824" cy="507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29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Rank IC의 개선을 위해, 5분위로 나눴으나 크게 영향을 주지 못했다.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70105" y="7728015"/>
            <a:ext cx="14914368" cy="76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8"/>
              </a:lnSpc>
            </a:pPr>
            <a:r>
              <a:rPr lang="en-US" sz="2247" b="true">
                <a:solidFill>
                  <a:srgbClr val="A8B2B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5분위 IC는 153/160이 양수이고 93/160이 유의했으며, Rank IC와의 패턴 상관은 0.996이었다. </a:t>
            </a:r>
          </a:p>
          <a:p>
            <a:pPr algn="l">
              <a:lnSpc>
                <a:spcPts val="3099"/>
              </a:lnSpc>
            </a:pPr>
            <a:r>
              <a:rPr lang="en-US" sz="2247" b="true">
                <a:solidFill>
                  <a:srgbClr val="A8B2B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순위를 단순화해도 단기반전과 PCA 개선 부재라는 결론은</a:t>
            </a:r>
            <a:r>
              <a:rPr lang="en-US" sz="2247" b="true">
                <a:solidFill>
                  <a:srgbClr val="A8B2B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유지되었다.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70126" y="2309559"/>
            <a:ext cx="9299418" cy="57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4"/>
              </a:lnSpc>
            </a:pPr>
            <a:r>
              <a:rPr lang="en-US" sz="3329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단기반전 신호는 존재했다.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5842" y="9087766"/>
            <a:ext cx="16796316" cy="37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247" b="true">
                <a:solidFill>
                  <a:srgbClr val="A8B2B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KOSPI200에서 단기반전 예측력은 강건하게 확인됐지만, PCA 공통요인 제거가 Raw 신호보다 예측력을 유의하게 개선한다는 근거는 확인되지</a:t>
            </a:r>
            <a:r>
              <a:rPr lang="en-US" sz="2247" b="true">
                <a:solidFill>
                  <a:srgbClr val="A8B2B7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않았다.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0698"/>
            <a:ext cx="1540444" cy="6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4199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결론</a:t>
            </a:r>
          </a:p>
        </p:txBody>
      </p:sp>
      <p:sp>
        <p:nvSpPr>
          <p:cNvPr name="AutoShape 3" id="3"/>
          <p:cNvSpPr/>
          <p:nvPr/>
        </p:nvSpPr>
        <p:spPr>
          <a:xfrm rot="4980">
            <a:off x="781031" y="1739817"/>
            <a:ext cx="16483032" cy="0"/>
          </a:xfrm>
          <a:prstGeom prst="line">
            <a:avLst/>
          </a:prstGeom>
          <a:ln cap="rnd" w="9525">
            <a:solidFill>
              <a:srgbClr val="3F3F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45959" y="2386012"/>
            <a:ext cx="1580870" cy="75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000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02742" y="2986088"/>
            <a:ext cx="13439299" cy="69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QIC·ΔQIC 롱숏은 모두 음(-)의 Sharpe. 롱온리도 KOSPI200을 크게 하회.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결과는 현재 운용 규칙의 성과이며, 단기반전 현상 자체의 부재를 증명하지 않음.</a:t>
            </a:r>
          </a:p>
        </p:txBody>
      </p:sp>
      <p:sp>
        <p:nvSpPr>
          <p:cNvPr name="AutoShape 6" id="6"/>
          <p:cNvSpPr/>
          <p:nvPr/>
        </p:nvSpPr>
        <p:spPr>
          <a:xfrm rot="2040">
            <a:off x="1019194" y="4033838"/>
            <a:ext cx="16249621" cy="0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45959" y="4457700"/>
            <a:ext cx="1506164" cy="75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000" b="true">
                <a:solidFill>
                  <a:srgbClr val="FF7D7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2742" y="4448175"/>
            <a:ext cx="493489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회전율과 비용이 핵심 제약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2742" y="5057775"/>
            <a:ext cx="13439299" cy="69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QIC 롱숏 CAGR: 비용 제외 1.53% → 비용 차감 후 -6.20%.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동일 기준에서 QIC가 ΔQIC보다 우세했지만, 성과 차이의 통계적 유의성은 미검정.</a:t>
            </a:r>
          </a:p>
        </p:txBody>
      </p:sp>
      <p:sp>
        <p:nvSpPr>
          <p:cNvPr name="AutoShape 10" id="10"/>
          <p:cNvSpPr/>
          <p:nvPr/>
        </p:nvSpPr>
        <p:spPr>
          <a:xfrm rot="2040">
            <a:off x="1019194" y="6105525"/>
            <a:ext cx="16249621" cy="0"/>
          </a:xfrm>
          <a:prstGeom prst="line">
            <a:avLst/>
          </a:prstGeom>
          <a:ln cap="rnd" w="9525">
            <a:solidFill>
              <a:srgbClr val="26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45959" y="6529388"/>
            <a:ext cx="1236138" cy="75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000" b="true">
                <a:solidFill>
                  <a:srgbClr val="58E6D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2742" y="6519863"/>
            <a:ext cx="807948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F7F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최적 보유기간과 실전 가능성은 추가 검증이 필요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2742" y="7129462"/>
            <a:ext cx="13439299" cy="73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현재 포트폴리오는 K=5일 고정이므로 최적 K를 결론낼 수 없음.</a:t>
            </a:r>
          </a:p>
          <a:p>
            <a:pPr algn="l">
              <a:lnSpc>
                <a:spcPts val="2793"/>
              </a:lnSpc>
            </a:pPr>
            <a:r>
              <a:rPr lang="en-US" sz="2025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K별 비용 포함 비교 · 외표본 검증 · 거래 감소 규칙 · 대차료와 체결 제약 확인이 필요.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2761" y="2243138"/>
            <a:ext cx="8379681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000" b="true">
                <a:solidFill>
                  <a:srgbClr val="F5F5F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IC가 양수여도 비용 차감 후 수익성은 보장되지 않음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2958" y="8340576"/>
            <a:ext cx="17274073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000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본 연구의 핵심: 단기반전의 통계적 신호를 발견하는 것과, 이를 거래 가능한 수익으로 바꾸는 것은 다르다.</a:t>
            </a:r>
          </a:p>
          <a:p>
            <a:pPr algn="l">
              <a:lnSpc>
                <a:spcPts val="4320"/>
              </a:lnSpc>
            </a:pPr>
            <a:r>
              <a:rPr lang="en-US" sz="3000">
                <a:solidFill>
                  <a:srgbClr val="A8B2B7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&gt; Beta Team Ps) Quant의 어려움, Turnover가 거의 없는 Benchmark지수를 뛰어넘는 전략 개발이 쉽지 않다...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4881" y="3872303"/>
            <a:ext cx="7698238" cy="153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2"/>
              </a:lnSpc>
            </a:pPr>
            <a:r>
              <a:rPr lang="en-US" sz="8001" b="true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감사합니다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97720" y="5516804"/>
            <a:ext cx="5092560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8">
                <a:solidFill>
                  <a:srgbClr val="FFFF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DAHUMz6FNKM</dc:identifier>
  <dcterms:modified xsi:type="dcterms:W3CDTF">2011-08-01T06:04:30Z</dcterms:modified>
  <cp:revision>1</cp:revision>
  <dc:title>sprint1최종발표 (3).pptx</dc:title>
</cp:coreProperties>
</file>